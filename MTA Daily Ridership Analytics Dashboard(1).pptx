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29LT Zarid Serif Bold" charset="1" panose="00000800000000000000"/>
      <p:regular r:id="rId18"/>
    </p:embeddedFont>
    <p:embeddedFont>
      <p:font typeface="29LT Riwaya Bold" charset="1" panose="00000800000000000000"/>
      <p:regular r:id="rId19"/>
    </p:embeddedFont>
    <p:embeddedFont>
      <p:font typeface="MediaPro Heavy Condensed" charset="1" panose="00000800000000000000"/>
      <p:regular r:id="rId20"/>
    </p:embeddedFont>
    <p:embeddedFont>
      <p:font typeface="Tagamo3" charset="1" panose="020B0704020202020204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11" Target="../media/image10.png" Type="http://schemas.openxmlformats.org/officeDocument/2006/relationships/image"/><Relationship Id="rId12" Target="../media/image11.svg" Type="http://schemas.openxmlformats.org/officeDocument/2006/relationships/image"/><Relationship Id="rId13" Target="../media/image12.png" Type="http://schemas.openxmlformats.org/officeDocument/2006/relationships/image"/><Relationship Id="rId14" Target="../media/image13.svg" Type="http://schemas.openxmlformats.org/officeDocument/2006/relationships/image"/><Relationship Id="rId15" Target="../media/image14.png" Type="http://schemas.openxmlformats.org/officeDocument/2006/relationships/image"/><Relationship Id="rId16" Target="../media/image15.svg" Type="http://schemas.openxmlformats.org/officeDocument/2006/relationships/image"/><Relationship Id="rId17" Target="../media/image16.png" Type="http://schemas.openxmlformats.org/officeDocument/2006/relationships/image"/><Relationship Id="rId18" Target="../media/image17.png" Type="http://schemas.openxmlformats.org/officeDocument/2006/relationships/image"/><Relationship Id="rId19" Target="../media/image18.sv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6.png" Type="http://schemas.openxmlformats.org/officeDocument/2006/relationships/image"/><Relationship Id="rId11" Target="../media/image2.png" Type="http://schemas.openxmlformats.org/officeDocument/2006/relationships/image"/><Relationship Id="rId12" Target="../media/image3.svg" Type="http://schemas.openxmlformats.org/officeDocument/2006/relationships/image"/><Relationship Id="rId13" Target="../media/image27.png" Type="http://schemas.openxmlformats.org/officeDocument/2006/relationships/image"/><Relationship Id="rId14" Target="../media/image28.svg" Type="http://schemas.openxmlformats.org/officeDocument/2006/relationships/image"/><Relationship Id="rId15" Target="../media/image29.png" Type="http://schemas.openxmlformats.org/officeDocument/2006/relationships/image"/><Relationship Id="rId2" Target="../media/image1.png" Type="http://schemas.openxmlformats.org/officeDocument/2006/relationships/image"/><Relationship Id="rId3" Target="../media/image19.png" Type="http://schemas.openxmlformats.org/officeDocument/2006/relationships/image"/><Relationship Id="rId4" Target="../media/image20.svg" Type="http://schemas.openxmlformats.org/officeDocument/2006/relationships/image"/><Relationship Id="rId5" Target="../media/image21.png" Type="http://schemas.openxmlformats.org/officeDocument/2006/relationships/image"/><Relationship Id="rId6" Target="../media/image22.png" Type="http://schemas.openxmlformats.org/officeDocument/2006/relationships/image"/><Relationship Id="rId7" Target="../media/image23.png" Type="http://schemas.openxmlformats.org/officeDocument/2006/relationships/image"/><Relationship Id="rId8" Target="../media/image24.png" Type="http://schemas.openxmlformats.org/officeDocument/2006/relationships/image"/><Relationship Id="rId9" Target="../media/image25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5.svg" Type="http://schemas.openxmlformats.org/officeDocument/2006/relationships/image"/><Relationship Id="rId2" Target="../media/image1.png" Type="http://schemas.openxmlformats.org/officeDocument/2006/relationships/image"/><Relationship Id="rId3" Target="../media/image30.png" Type="http://schemas.openxmlformats.org/officeDocument/2006/relationships/image"/><Relationship Id="rId4" Target="../media/image31.png" Type="http://schemas.openxmlformats.org/officeDocument/2006/relationships/image"/><Relationship Id="rId5" Target="../media/image32.png" Type="http://schemas.openxmlformats.org/officeDocument/2006/relationships/image"/><Relationship Id="rId6" Target="../media/image33.png" Type="http://schemas.openxmlformats.org/officeDocument/2006/relationships/image"/><Relationship Id="rId7" Target="../media/image2.png" Type="http://schemas.openxmlformats.org/officeDocument/2006/relationships/image"/><Relationship Id="rId8" Target="../media/image3.svg" Type="http://schemas.openxmlformats.org/officeDocument/2006/relationships/image"/><Relationship Id="rId9" Target="../media/image3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1.png" Type="http://schemas.openxmlformats.org/officeDocument/2006/relationships/image"/><Relationship Id="rId4" Target="../media/image33.png" Type="http://schemas.openxmlformats.org/officeDocument/2006/relationships/image"/><Relationship Id="rId5" Target="../media/image2.png" Type="http://schemas.openxmlformats.org/officeDocument/2006/relationships/image"/><Relationship Id="rId6" Target="../media/image3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7.png" Type="http://schemas.openxmlformats.org/officeDocument/2006/relationships/image"/><Relationship Id="rId11" Target="../media/image38.svg" Type="http://schemas.openxmlformats.org/officeDocument/2006/relationships/image"/><Relationship Id="rId2" Target="../media/image1.png" Type="http://schemas.openxmlformats.org/officeDocument/2006/relationships/image"/><Relationship Id="rId3" Target="../media/image36.png" Type="http://schemas.openxmlformats.org/officeDocument/2006/relationships/image"/><Relationship Id="rId4" Target="../media/image31.png" Type="http://schemas.openxmlformats.org/officeDocument/2006/relationships/image"/><Relationship Id="rId5" Target="../media/image33.png" Type="http://schemas.openxmlformats.org/officeDocument/2006/relationships/image"/><Relationship Id="rId6" Target="../media/image34.png" Type="http://schemas.openxmlformats.org/officeDocument/2006/relationships/image"/><Relationship Id="rId7" Target="../media/image35.svg" Type="http://schemas.openxmlformats.org/officeDocument/2006/relationships/image"/><Relationship Id="rId8" Target="../media/image2.png" Type="http://schemas.openxmlformats.org/officeDocument/2006/relationships/image"/><Relationship Id="rId9" Target="../media/image3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9.png" Type="http://schemas.openxmlformats.org/officeDocument/2006/relationships/image"/><Relationship Id="rId4" Target="../media/image31.png" Type="http://schemas.openxmlformats.org/officeDocument/2006/relationships/image"/><Relationship Id="rId5" Target="../media/image37.png" Type="http://schemas.openxmlformats.org/officeDocument/2006/relationships/image"/><Relationship Id="rId6" Target="../media/image38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0.png" Type="http://schemas.openxmlformats.org/officeDocument/2006/relationships/image"/><Relationship Id="rId4" Target="../media/image31.png" Type="http://schemas.openxmlformats.org/officeDocument/2006/relationships/image"/><Relationship Id="rId5" Target="../media/image37.png" Type="http://schemas.openxmlformats.org/officeDocument/2006/relationships/image"/><Relationship Id="rId6" Target="../media/image38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1.png" Type="http://schemas.openxmlformats.org/officeDocument/2006/relationships/image"/><Relationship Id="rId4" Target="../media/image31.png" Type="http://schemas.openxmlformats.org/officeDocument/2006/relationships/image"/><Relationship Id="rId5" Target="../media/image37.png" Type="http://schemas.openxmlformats.org/officeDocument/2006/relationships/image"/><Relationship Id="rId6" Target="../media/image38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2.png" Type="http://schemas.openxmlformats.org/officeDocument/2006/relationships/image"/><Relationship Id="rId4" Target="../media/image31.png" Type="http://schemas.openxmlformats.org/officeDocument/2006/relationships/image"/><Relationship Id="rId5" Target="../media/image37.png" Type="http://schemas.openxmlformats.org/officeDocument/2006/relationships/image"/><Relationship Id="rId6" Target="../media/image38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3.png" Type="http://schemas.openxmlformats.org/officeDocument/2006/relationships/image"/><Relationship Id="rId4" Target="../media/image44.svg" Type="http://schemas.openxmlformats.org/officeDocument/2006/relationships/image"/><Relationship Id="rId5" Target="../media/image37.png" Type="http://schemas.openxmlformats.org/officeDocument/2006/relationships/image"/><Relationship Id="rId6" Target="../media/image38.svg" Type="http://schemas.openxmlformats.org/officeDocument/2006/relationships/image"/><Relationship Id="rId7" Target="../media/image34.png" Type="http://schemas.openxmlformats.org/officeDocument/2006/relationships/image"/><Relationship Id="rId8" Target="../media/image35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2.png" Type="http://schemas.openxmlformats.org/officeDocument/2006/relationships/image"/><Relationship Id="rId2" Target="../media/image1.png" Type="http://schemas.openxmlformats.org/officeDocument/2006/relationships/image"/><Relationship Id="rId3" Target="../media/image45.png" Type="http://schemas.openxmlformats.org/officeDocument/2006/relationships/image"/><Relationship Id="rId4" Target="../media/image46.svg" Type="http://schemas.openxmlformats.org/officeDocument/2006/relationships/image"/><Relationship Id="rId5" Target="../media/image47.png" Type="http://schemas.openxmlformats.org/officeDocument/2006/relationships/image"/><Relationship Id="rId6" Target="../media/image48.png" Type="http://schemas.openxmlformats.org/officeDocument/2006/relationships/image"/><Relationship Id="rId7" Target="../media/image49.png" Type="http://schemas.openxmlformats.org/officeDocument/2006/relationships/image"/><Relationship Id="rId8" Target="../media/image50.png" Type="http://schemas.openxmlformats.org/officeDocument/2006/relationships/image"/><Relationship Id="rId9" Target="../media/image51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0.svg" Type="http://schemas.openxmlformats.org/officeDocument/2006/relationships/image"/><Relationship Id="rId2" Target="../media/image1.png" Type="http://schemas.openxmlformats.org/officeDocument/2006/relationships/image"/><Relationship Id="rId3" Target="../media/image53.png" Type="http://schemas.openxmlformats.org/officeDocument/2006/relationships/image"/><Relationship Id="rId4" Target="../media/image54.svg" Type="http://schemas.openxmlformats.org/officeDocument/2006/relationships/image"/><Relationship Id="rId5" Target="../media/image55.png" Type="http://schemas.openxmlformats.org/officeDocument/2006/relationships/image"/><Relationship Id="rId6" Target="../media/image56.svg" Type="http://schemas.openxmlformats.org/officeDocument/2006/relationships/image"/><Relationship Id="rId7" Target="../media/image57.png" Type="http://schemas.openxmlformats.org/officeDocument/2006/relationships/image"/><Relationship Id="rId8" Target="../media/image58.svg" Type="http://schemas.openxmlformats.org/officeDocument/2006/relationships/image"/><Relationship Id="rId9" Target="../media/image59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085815" y="3744620"/>
            <a:ext cx="12372515" cy="1912116"/>
          </a:xfrm>
          <a:custGeom>
            <a:avLst/>
            <a:gdLst/>
            <a:ahLst/>
            <a:cxnLst/>
            <a:rect r="r" b="b" t="t" l="l"/>
            <a:pathLst>
              <a:path h="1912116" w="12372515">
                <a:moveTo>
                  <a:pt x="0" y="0"/>
                </a:moveTo>
                <a:lnTo>
                  <a:pt x="12372514" y="0"/>
                </a:lnTo>
                <a:lnTo>
                  <a:pt x="12372514" y="1912116"/>
                </a:lnTo>
                <a:lnTo>
                  <a:pt x="0" y="191211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9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856388" y="3760496"/>
            <a:ext cx="12831368" cy="1880364"/>
          </a:xfrm>
          <a:custGeom>
            <a:avLst/>
            <a:gdLst/>
            <a:ahLst/>
            <a:cxnLst/>
            <a:rect r="r" b="b" t="t" l="l"/>
            <a:pathLst>
              <a:path h="1880364" w="12831368">
                <a:moveTo>
                  <a:pt x="0" y="0"/>
                </a:moveTo>
                <a:lnTo>
                  <a:pt x="12831368" y="0"/>
                </a:lnTo>
                <a:lnTo>
                  <a:pt x="12831368" y="1880364"/>
                </a:lnTo>
                <a:lnTo>
                  <a:pt x="0" y="188036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5400000">
            <a:off x="15982820" y="2524431"/>
            <a:ext cx="3821258" cy="159798"/>
          </a:xfrm>
          <a:custGeom>
            <a:avLst/>
            <a:gdLst/>
            <a:ahLst/>
            <a:cxnLst/>
            <a:rect r="r" b="b" t="t" l="l"/>
            <a:pathLst>
              <a:path h="159798" w="3821258">
                <a:moveTo>
                  <a:pt x="0" y="0"/>
                </a:moveTo>
                <a:lnTo>
                  <a:pt x="3821258" y="0"/>
                </a:lnTo>
                <a:lnTo>
                  <a:pt x="3821258" y="159798"/>
                </a:lnTo>
                <a:lnTo>
                  <a:pt x="0" y="15979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5400000">
            <a:off x="15348671" y="2047113"/>
            <a:ext cx="3821258" cy="159798"/>
          </a:xfrm>
          <a:custGeom>
            <a:avLst/>
            <a:gdLst/>
            <a:ahLst/>
            <a:cxnLst/>
            <a:rect r="r" b="b" t="t" l="l"/>
            <a:pathLst>
              <a:path h="159798" w="3821258">
                <a:moveTo>
                  <a:pt x="0" y="0"/>
                </a:moveTo>
                <a:lnTo>
                  <a:pt x="3821258" y="0"/>
                </a:lnTo>
                <a:lnTo>
                  <a:pt x="3821258" y="159798"/>
                </a:lnTo>
                <a:lnTo>
                  <a:pt x="0" y="15979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5400000">
            <a:off x="14712623" y="2524431"/>
            <a:ext cx="3821258" cy="159798"/>
          </a:xfrm>
          <a:custGeom>
            <a:avLst/>
            <a:gdLst/>
            <a:ahLst/>
            <a:cxnLst/>
            <a:rect r="r" b="b" t="t" l="l"/>
            <a:pathLst>
              <a:path h="159798" w="3821258">
                <a:moveTo>
                  <a:pt x="0" y="0"/>
                </a:moveTo>
                <a:lnTo>
                  <a:pt x="3821258" y="0"/>
                </a:lnTo>
                <a:lnTo>
                  <a:pt x="3821258" y="159798"/>
                </a:lnTo>
                <a:lnTo>
                  <a:pt x="0" y="15979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5038975" y="8468083"/>
            <a:ext cx="8210049" cy="790217"/>
          </a:xfrm>
          <a:custGeom>
            <a:avLst/>
            <a:gdLst/>
            <a:ahLst/>
            <a:cxnLst/>
            <a:rect r="r" b="b" t="t" l="l"/>
            <a:pathLst>
              <a:path h="790217" w="8210049">
                <a:moveTo>
                  <a:pt x="0" y="0"/>
                </a:moveTo>
                <a:lnTo>
                  <a:pt x="8210050" y="0"/>
                </a:lnTo>
                <a:lnTo>
                  <a:pt x="8210050" y="790217"/>
                </a:lnTo>
                <a:lnTo>
                  <a:pt x="0" y="790217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5652491" y="8219516"/>
            <a:ext cx="2737783" cy="9614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59"/>
              </a:lnSpc>
              <a:spcBef>
                <a:spcPct val="0"/>
              </a:spcBef>
            </a:pPr>
            <a:r>
              <a:rPr lang="en-US" b="true" sz="4899">
                <a:solidFill>
                  <a:srgbClr val="38B6FF"/>
                </a:solidFill>
                <a:latin typeface="29LT Zarid Serif Bold"/>
                <a:ea typeface="29LT Zarid Serif Bold"/>
                <a:cs typeface="29LT Zarid Serif Bold"/>
                <a:sym typeface="29LT Zarid Serif Bold"/>
              </a:rPr>
              <a:t>Supervisor: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7340531" y="8017946"/>
            <a:ext cx="3606938" cy="527515"/>
          </a:xfrm>
          <a:custGeom>
            <a:avLst/>
            <a:gdLst/>
            <a:ahLst/>
            <a:cxnLst/>
            <a:rect r="r" b="b" t="t" l="l"/>
            <a:pathLst>
              <a:path h="527515" w="3606938">
                <a:moveTo>
                  <a:pt x="0" y="0"/>
                </a:moveTo>
                <a:lnTo>
                  <a:pt x="3606938" y="0"/>
                </a:lnTo>
                <a:lnTo>
                  <a:pt x="3606938" y="527515"/>
                </a:lnTo>
                <a:lnTo>
                  <a:pt x="0" y="527515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-1645572" y="808736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31703" y="8514080"/>
            <a:ext cx="1928440" cy="1772920"/>
          </a:xfrm>
          <a:custGeom>
            <a:avLst/>
            <a:gdLst/>
            <a:ahLst/>
            <a:cxnLst/>
            <a:rect r="r" b="b" t="t" l="l"/>
            <a:pathLst>
              <a:path h="1772920" w="1928440">
                <a:moveTo>
                  <a:pt x="0" y="0"/>
                </a:moveTo>
                <a:lnTo>
                  <a:pt x="1928440" y="0"/>
                </a:lnTo>
                <a:lnTo>
                  <a:pt x="1928440" y="1772920"/>
                </a:lnTo>
                <a:lnTo>
                  <a:pt x="0" y="1772920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4925109" y="9221261"/>
            <a:ext cx="3863626" cy="948345"/>
          </a:xfrm>
          <a:custGeom>
            <a:avLst/>
            <a:gdLst/>
            <a:ahLst/>
            <a:cxnLst/>
            <a:rect r="r" b="b" t="t" l="l"/>
            <a:pathLst>
              <a:path h="948345" w="3863626">
                <a:moveTo>
                  <a:pt x="0" y="0"/>
                </a:moveTo>
                <a:lnTo>
                  <a:pt x="3863627" y="0"/>
                </a:lnTo>
                <a:lnTo>
                  <a:pt x="3863627" y="948345"/>
                </a:lnTo>
                <a:lnTo>
                  <a:pt x="0" y="948345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3595648" y="4260305"/>
            <a:ext cx="11352848" cy="7950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6579"/>
              </a:lnSpc>
              <a:spcBef>
                <a:spcPct val="0"/>
              </a:spcBef>
            </a:pPr>
            <a:r>
              <a:rPr lang="en-US" b="true" sz="4699">
                <a:solidFill>
                  <a:srgbClr val="10AB7B"/>
                </a:solidFill>
                <a:latin typeface="29LT Riwaya Bold"/>
                <a:ea typeface="29LT Riwaya Bold"/>
                <a:cs typeface="29LT Riwaya Bold"/>
                <a:sym typeface="29LT Riwaya Bold"/>
              </a:rPr>
              <a:t>MTA</a:t>
            </a:r>
            <a:r>
              <a:rPr lang="en-US" b="true" sz="4699">
                <a:solidFill>
                  <a:srgbClr val="FFFFFF"/>
                </a:solidFill>
                <a:latin typeface="29LT Riwaya Bold"/>
                <a:ea typeface="29LT Riwaya Bold"/>
                <a:cs typeface="29LT Riwaya Bold"/>
                <a:sym typeface="29LT Riwaya Bold"/>
              </a:rPr>
              <a:t> Daily Ridership </a:t>
            </a:r>
            <a:r>
              <a:rPr lang="en-US" b="true" sz="4699">
                <a:solidFill>
                  <a:srgbClr val="1631A5"/>
                </a:solidFill>
                <a:latin typeface="29LT Riwaya Bold"/>
                <a:ea typeface="29LT Riwaya Bold"/>
                <a:cs typeface="29LT Riwaya Bold"/>
                <a:sym typeface="29LT Riwaya Bold"/>
              </a:rPr>
              <a:t>Analytics</a:t>
            </a:r>
            <a:r>
              <a:rPr lang="en-US" b="true" sz="4699">
                <a:solidFill>
                  <a:srgbClr val="1631A5"/>
                </a:solidFill>
                <a:latin typeface="29LT Riwaya Bold"/>
                <a:ea typeface="29LT Riwaya Bold"/>
                <a:cs typeface="29LT Riwaya Bold"/>
                <a:sym typeface="29LT Riwaya Bold"/>
              </a:rPr>
              <a:t> </a:t>
            </a:r>
            <a:r>
              <a:rPr lang="en-US" b="true" sz="4699">
                <a:solidFill>
                  <a:srgbClr val="FFFFFF"/>
                </a:solidFill>
                <a:latin typeface="29LT Riwaya Bold"/>
                <a:ea typeface="29LT Riwaya Bold"/>
                <a:cs typeface="29LT Riwaya Bold"/>
                <a:sym typeface="29LT Riwaya Bold"/>
              </a:rPr>
              <a:t>Dashboard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04945" y="6018649"/>
            <a:ext cx="16134254" cy="6816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81"/>
              </a:lnSpc>
              <a:spcBef>
                <a:spcPct val="0"/>
              </a:spcBef>
            </a:pPr>
            <a:r>
              <a:rPr lang="en-US" sz="3915">
                <a:solidFill>
                  <a:srgbClr val="FFFFFF"/>
                </a:solidFill>
                <a:latin typeface="MediaPro Heavy Condensed"/>
                <a:ea typeface="MediaPro Heavy Condensed"/>
                <a:cs typeface="MediaPro Heavy Condensed"/>
                <a:sym typeface="MediaPro Heavy Condensed"/>
              </a:rPr>
              <a:t>Pos</a:t>
            </a:r>
            <a:r>
              <a:rPr lang="en-US" sz="3915">
                <a:solidFill>
                  <a:srgbClr val="FFFFFF"/>
                </a:solidFill>
                <a:latin typeface="MediaPro Heavy Condensed"/>
                <a:ea typeface="MediaPro Heavy Condensed"/>
                <a:cs typeface="MediaPro Heavy Condensed"/>
                <a:sym typeface="MediaPro Heavy Condensed"/>
              </a:rPr>
              <a:t>t-Pandemic Recovery  for New York City's Transportation Netw</a:t>
            </a:r>
            <a:r>
              <a:rPr lang="en-US" sz="3915">
                <a:solidFill>
                  <a:srgbClr val="FFFFFF"/>
                </a:solidFill>
                <a:latin typeface="MediaPro Heavy Condensed"/>
                <a:ea typeface="MediaPro Heavy Condensed"/>
                <a:cs typeface="MediaPro Heavy Condensed"/>
                <a:sym typeface="MediaPro Heavy Condensed"/>
              </a:rPr>
              <a:t>ork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593873" y="8469261"/>
            <a:ext cx="4079736" cy="7116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24"/>
              </a:lnSpc>
              <a:spcBef>
                <a:spcPct val="0"/>
              </a:spcBef>
            </a:pPr>
            <a:r>
              <a:rPr lang="en-US" b="true" sz="4231">
                <a:solidFill>
                  <a:srgbClr val="FFFFFF"/>
                </a:solidFill>
                <a:latin typeface="29LT Riwaya Bold"/>
                <a:ea typeface="29LT Riwaya Bold"/>
                <a:cs typeface="29LT Riwaya Bold"/>
                <a:sym typeface="29LT Riwaya Bold"/>
              </a:rPr>
              <a:t>Eng. Osama Adel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4702161" y="9249717"/>
            <a:ext cx="4001980" cy="910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46"/>
              </a:lnSpc>
              <a:spcBef>
                <a:spcPct val="0"/>
              </a:spcBef>
            </a:pPr>
            <a:r>
              <a:rPr lang="en-US" sz="5247">
                <a:solidFill>
                  <a:srgbClr val="FFFFFF"/>
                </a:solidFill>
                <a:latin typeface="MediaPro Heavy Condensed"/>
                <a:ea typeface="MediaPro Heavy Condensed"/>
                <a:cs typeface="MediaPro Heavy Condensed"/>
                <a:sym typeface="MediaPro Heavy Condensed"/>
              </a:rPr>
              <a:t>14 / 7 / 2026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15406" y="5345748"/>
            <a:ext cx="2722516" cy="935865"/>
          </a:xfrm>
          <a:custGeom>
            <a:avLst/>
            <a:gdLst/>
            <a:ahLst/>
            <a:cxnLst/>
            <a:rect r="r" b="b" t="t" l="l"/>
            <a:pathLst>
              <a:path h="935865" w="2722516">
                <a:moveTo>
                  <a:pt x="0" y="0"/>
                </a:moveTo>
                <a:lnTo>
                  <a:pt x="2722517" y="0"/>
                </a:lnTo>
                <a:lnTo>
                  <a:pt x="2722517" y="935865"/>
                </a:lnTo>
                <a:lnTo>
                  <a:pt x="0" y="93586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434792" y="5345748"/>
            <a:ext cx="1870615" cy="1870615"/>
            <a:chOff x="0" y="0"/>
            <a:chExt cx="14840029" cy="1484002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-33258" y="-75"/>
              <a:ext cx="14906544" cy="14840178"/>
            </a:xfrm>
            <a:custGeom>
              <a:avLst/>
              <a:gdLst/>
              <a:ahLst/>
              <a:cxnLst/>
              <a:rect r="r" b="b" t="t" l="l"/>
              <a:pathLst>
                <a:path h="14840178" w="14906544">
                  <a:moveTo>
                    <a:pt x="7453273" y="75"/>
                  </a:moveTo>
                  <a:cubicBezTo>
                    <a:pt x="4794451" y="-11816"/>
                    <a:pt x="2332496" y="1399825"/>
                    <a:pt x="999642" y="3700470"/>
                  </a:cubicBezTo>
                  <a:cubicBezTo>
                    <a:pt x="-333213" y="6001115"/>
                    <a:pt x="-333213" y="8839064"/>
                    <a:pt x="999642" y="11139709"/>
                  </a:cubicBezTo>
                  <a:cubicBezTo>
                    <a:pt x="2332496" y="13440354"/>
                    <a:pt x="4794451" y="14851995"/>
                    <a:pt x="7453273" y="14840104"/>
                  </a:cubicBezTo>
                  <a:cubicBezTo>
                    <a:pt x="10112093" y="14851995"/>
                    <a:pt x="12574049" y="13440354"/>
                    <a:pt x="13906904" y="11139709"/>
                  </a:cubicBezTo>
                  <a:cubicBezTo>
                    <a:pt x="15239758" y="8839064"/>
                    <a:pt x="15239758" y="6001115"/>
                    <a:pt x="13906904" y="3700470"/>
                  </a:cubicBezTo>
                  <a:cubicBezTo>
                    <a:pt x="12574049" y="1399825"/>
                    <a:pt x="10112093" y="-11816"/>
                    <a:pt x="7453273" y="75"/>
                  </a:cubicBezTo>
                  <a:close/>
                </a:path>
              </a:pathLst>
            </a:custGeom>
            <a:solidFill>
              <a:srgbClr val="38B6FF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168022" y="200309"/>
              <a:ext cx="14503985" cy="14439411"/>
            </a:xfrm>
            <a:custGeom>
              <a:avLst/>
              <a:gdLst/>
              <a:ahLst/>
              <a:cxnLst/>
              <a:rect r="r" b="b" t="t" l="l"/>
              <a:pathLst>
                <a:path h="14439411" w="14503985">
                  <a:moveTo>
                    <a:pt x="7251993" y="73"/>
                  </a:moveTo>
                  <a:cubicBezTo>
                    <a:pt x="4664974" y="-11497"/>
                    <a:pt x="2269506" y="1362022"/>
                    <a:pt x="972645" y="3600537"/>
                  </a:cubicBezTo>
                  <a:cubicBezTo>
                    <a:pt x="-324215" y="5839051"/>
                    <a:pt x="-324215" y="8600360"/>
                    <a:pt x="972645" y="10838875"/>
                  </a:cubicBezTo>
                  <a:cubicBezTo>
                    <a:pt x="2269506" y="13077389"/>
                    <a:pt x="4664974" y="14450908"/>
                    <a:pt x="7251993" y="14439338"/>
                  </a:cubicBezTo>
                  <a:cubicBezTo>
                    <a:pt x="9839011" y="14450908"/>
                    <a:pt x="12234479" y="13077389"/>
                    <a:pt x="13531340" y="10838875"/>
                  </a:cubicBezTo>
                  <a:cubicBezTo>
                    <a:pt x="14828201" y="8600360"/>
                    <a:pt x="14828201" y="5839051"/>
                    <a:pt x="13531340" y="3600537"/>
                  </a:cubicBezTo>
                  <a:cubicBezTo>
                    <a:pt x="12234479" y="1362022"/>
                    <a:pt x="9839011" y="-11497"/>
                    <a:pt x="7251993" y="7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531276" y="561946"/>
              <a:ext cx="13777477" cy="13716137"/>
            </a:xfrm>
            <a:custGeom>
              <a:avLst/>
              <a:gdLst/>
              <a:ahLst/>
              <a:cxnLst/>
              <a:rect r="r" b="b" t="t" l="l"/>
              <a:pathLst>
                <a:path h="13716137" w="13777477">
                  <a:moveTo>
                    <a:pt x="6888739" y="68"/>
                  </a:moveTo>
                  <a:cubicBezTo>
                    <a:pt x="4431305" y="-10922"/>
                    <a:pt x="2155826" y="1293797"/>
                    <a:pt x="923925" y="3420184"/>
                  </a:cubicBezTo>
                  <a:cubicBezTo>
                    <a:pt x="-307975" y="5546571"/>
                    <a:pt x="-307975" y="8169565"/>
                    <a:pt x="923925" y="10295952"/>
                  </a:cubicBezTo>
                  <a:cubicBezTo>
                    <a:pt x="2155826" y="12422339"/>
                    <a:pt x="4431305" y="13727058"/>
                    <a:pt x="6888739" y="13716068"/>
                  </a:cubicBezTo>
                  <a:cubicBezTo>
                    <a:pt x="9346172" y="13727058"/>
                    <a:pt x="11621651" y="12422339"/>
                    <a:pt x="12853552" y="10295952"/>
                  </a:cubicBezTo>
                  <a:cubicBezTo>
                    <a:pt x="14085452" y="8169565"/>
                    <a:pt x="14085452" y="5546571"/>
                    <a:pt x="12853552" y="3420184"/>
                  </a:cubicBezTo>
                  <a:cubicBezTo>
                    <a:pt x="11621651" y="1293797"/>
                    <a:pt x="9346172" y="-10922"/>
                    <a:pt x="6888739" y="68"/>
                  </a:cubicBezTo>
                  <a:close/>
                </a:path>
              </a:pathLst>
            </a:custGeom>
            <a:blipFill>
              <a:blip r:embed="rId5"/>
              <a:stretch>
                <a:fillRect l="223" t="0" r="223" b="0"/>
              </a:stretch>
            </a:blip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14198426" y="5345748"/>
            <a:ext cx="2722516" cy="935865"/>
          </a:xfrm>
          <a:custGeom>
            <a:avLst/>
            <a:gdLst/>
            <a:ahLst/>
            <a:cxnLst/>
            <a:rect r="r" b="b" t="t" l="l"/>
            <a:pathLst>
              <a:path h="935865" w="2722516">
                <a:moveTo>
                  <a:pt x="0" y="0"/>
                </a:moveTo>
                <a:lnTo>
                  <a:pt x="2722516" y="0"/>
                </a:lnTo>
                <a:lnTo>
                  <a:pt x="2722516" y="935865"/>
                </a:lnTo>
                <a:lnTo>
                  <a:pt x="0" y="93586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>
            <a:grpSpLocks noChangeAspect="true"/>
          </p:cNvGrpSpPr>
          <p:nvPr/>
        </p:nvGrpSpPr>
        <p:grpSpPr>
          <a:xfrm rot="0">
            <a:off x="16022834" y="4059873"/>
            <a:ext cx="1870615" cy="1870615"/>
            <a:chOff x="0" y="0"/>
            <a:chExt cx="14840029" cy="1484002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-33258" y="-75"/>
              <a:ext cx="14906544" cy="14840178"/>
            </a:xfrm>
            <a:custGeom>
              <a:avLst/>
              <a:gdLst/>
              <a:ahLst/>
              <a:cxnLst/>
              <a:rect r="r" b="b" t="t" l="l"/>
              <a:pathLst>
                <a:path h="14840178" w="14906544">
                  <a:moveTo>
                    <a:pt x="7453273" y="75"/>
                  </a:moveTo>
                  <a:cubicBezTo>
                    <a:pt x="4794451" y="-11816"/>
                    <a:pt x="2332496" y="1399825"/>
                    <a:pt x="999642" y="3700470"/>
                  </a:cubicBezTo>
                  <a:cubicBezTo>
                    <a:pt x="-333213" y="6001115"/>
                    <a:pt x="-333213" y="8839064"/>
                    <a:pt x="999642" y="11139709"/>
                  </a:cubicBezTo>
                  <a:cubicBezTo>
                    <a:pt x="2332496" y="13440354"/>
                    <a:pt x="4794451" y="14851995"/>
                    <a:pt x="7453273" y="14840104"/>
                  </a:cubicBezTo>
                  <a:cubicBezTo>
                    <a:pt x="10112093" y="14851995"/>
                    <a:pt x="12574049" y="13440354"/>
                    <a:pt x="13906904" y="11139709"/>
                  </a:cubicBezTo>
                  <a:cubicBezTo>
                    <a:pt x="15239758" y="8839064"/>
                    <a:pt x="15239758" y="6001115"/>
                    <a:pt x="13906904" y="3700470"/>
                  </a:cubicBezTo>
                  <a:cubicBezTo>
                    <a:pt x="12574049" y="1399825"/>
                    <a:pt x="10112093" y="-11816"/>
                    <a:pt x="7453273" y="75"/>
                  </a:cubicBezTo>
                  <a:close/>
                </a:path>
              </a:pathLst>
            </a:custGeom>
            <a:solidFill>
              <a:srgbClr val="FF66C4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168022" y="200309"/>
              <a:ext cx="14503985" cy="14439411"/>
            </a:xfrm>
            <a:custGeom>
              <a:avLst/>
              <a:gdLst/>
              <a:ahLst/>
              <a:cxnLst/>
              <a:rect r="r" b="b" t="t" l="l"/>
              <a:pathLst>
                <a:path h="14439411" w="14503985">
                  <a:moveTo>
                    <a:pt x="7251993" y="73"/>
                  </a:moveTo>
                  <a:cubicBezTo>
                    <a:pt x="4664974" y="-11497"/>
                    <a:pt x="2269506" y="1362022"/>
                    <a:pt x="972645" y="3600537"/>
                  </a:cubicBezTo>
                  <a:cubicBezTo>
                    <a:pt x="-324215" y="5839051"/>
                    <a:pt x="-324215" y="8600360"/>
                    <a:pt x="972645" y="10838875"/>
                  </a:cubicBezTo>
                  <a:cubicBezTo>
                    <a:pt x="2269506" y="13077389"/>
                    <a:pt x="4664974" y="14450908"/>
                    <a:pt x="7251993" y="14439338"/>
                  </a:cubicBezTo>
                  <a:cubicBezTo>
                    <a:pt x="9839011" y="14450908"/>
                    <a:pt x="12234479" y="13077389"/>
                    <a:pt x="13531340" y="10838875"/>
                  </a:cubicBezTo>
                  <a:cubicBezTo>
                    <a:pt x="14828201" y="8600360"/>
                    <a:pt x="14828201" y="5839051"/>
                    <a:pt x="13531340" y="3600537"/>
                  </a:cubicBezTo>
                  <a:cubicBezTo>
                    <a:pt x="12234479" y="1362022"/>
                    <a:pt x="9839011" y="-11497"/>
                    <a:pt x="7251993" y="7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531276" y="561946"/>
              <a:ext cx="13777477" cy="13716137"/>
            </a:xfrm>
            <a:custGeom>
              <a:avLst/>
              <a:gdLst/>
              <a:ahLst/>
              <a:cxnLst/>
              <a:rect r="r" b="b" t="t" l="l"/>
              <a:pathLst>
                <a:path h="13716137" w="13777477">
                  <a:moveTo>
                    <a:pt x="6888739" y="68"/>
                  </a:moveTo>
                  <a:cubicBezTo>
                    <a:pt x="4431305" y="-10922"/>
                    <a:pt x="2155826" y="1293797"/>
                    <a:pt x="923925" y="3420184"/>
                  </a:cubicBezTo>
                  <a:cubicBezTo>
                    <a:pt x="-307975" y="5546571"/>
                    <a:pt x="-307975" y="8169565"/>
                    <a:pt x="923925" y="10295952"/>
                  </a:cubicBezTo>
                  <a:cubicBezTo>
                    <a:pt x="2155826" y="12422339"/>
                    <a:pt x="4431305" y="13727058"/>
                    <a:pt x="6888739" y="13716068"/>
                  </a:cubicBezTo>
                  <a:cubicBezTo>
                    <a:pt x="9346172" y="13727058"/>
                    <a:pt x="11621651" y="12422339"/>
                    <a:pt x="12853552" y="10295952"/>
                  </a:cubicBezTo>
                  <a:cubicBezTo>
                    <a:pt x="14085452" y="8169565"/>
                    <a:pt x="14085452" y="5546571"/>
                    <a:pt x="12853552" y="3420184"/>
                  </a:cubicBezTo>
                  <a:cubicBezTo>
                    <a:pt x="11621651" y="1293797"/>
                    <a:pt x="9346172" y="-10922"/>
                    <a:pt x="6888739" y="68"/>
                  </a:cubicBezTo>
                  <a:close/>
                </a:path>
              </a:pathLst>
            </a:custGeom>
            <a:blipFill>
              <a:blip r:embed="rId6"/>
              <a:stretch>
                <a:fillRect l="-3752" t="0" r="-15042" b="-59101"/>
              </a:stretch>
            </a:blipFill>
          </p:spPr>
        </p:sp>
      </p:grpSp>
      <p:sp>
        <p:nvSpPr>
          <p:cNvPr name="Freeform 13" id="13"/>
          <p:cNvSpPr/>
          <p:nvPr/>
        </p:nvSpPr>
        <p:spPr>
          <a:xfrm flipH="true" flipV="false" rot="0">
            <a:off x="11121145" y="5462556"/>
            <a:ext cx="2722516" cy="935865"/>
          </a:xfrm>
          <a:custGeom>
            <a:avLst/>
            <a:gdLst/>
            <a:ahLst/>
            <a:cxnLst/>
            <a:rect r="r" b="b" t="t" l="l"/>
            <a:pathLst>
              <a:path h="935865" w="2722516">
                <a:moveTo>
                  <a:pt x="2722516" y="0"/>
                </a:moveTo>
                <a:lnTo>
                  <a:pt x="0" y="0"/>
                </a:lnTo>
                <a:lnTo>
                  <a:pt x="0" y="935865"/>
                </a:lnTo>
                <a:lnTo>
                  <a:pt x="2722516" y="935865"/>
                </a:lnTo>
                <a:lnTo>
                  <a:pt x="2722516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4" id="14"/>
          <p:cNvGrpSpPr>
            <a:grpSpLocks noChangeAspect="true"/>
          </p:cNvGrpSpPr>
          <p:nvPr/>
        </p:nvGrpSpPr>
        <p:grpSpPr>
          <a:xfrm rot="0">
            <a:off x="12908354" y="5345748"/>
            <a:ext cx="1870615" cy="1870615"/>
            <a:chOff x="0" y="0"/>
            <a:chExt cx="14840029" cy="1484002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-33258" y="-75"/>
              <a:ext cx="14906544" cy="14840178"/>
            </a:xfrm>
            <a:custGeom>
              <a:avLst/>
              <a:gdLst/>
              <a:ahLst/>
              <a:cxnLst/>
              <a:rect r="r" b="b" t="t" l="l"/>
              <a:pathLst>
                <a:path h="14840178" w="14906544">
                  <a:moveTo>
                    <a:pt x="7453273" y="75"/>
                  </a:moveTo>
                  <a:cubicBezTo>
                    <a:pt x="4794451" y="-11816"/>
                    <a:pt x="2332496" y="1399825"/>
                    <a:pt x="999642" y="3700470"/>
                  </a:cubicBezTo>
                  <a:cubicBezTo>
                    <a:pt x="-333213" y="6001115"/>
                    <a:pt x="-333213" y="8839064"/>
                    <a:pt x="999642" y="11139709"/>
                  </a:cubicBezTo>
                  <a:cubicBezTo>
                    <a:pt x="2332496" y="13440354"/>
                    <a:pt x="4794451" y="14851995"/>
                    <a:pt x="7453273" y="14840104"/>
                  </a:cubicBezTo>
                  <a:cubicBezTo>
                    <a:pt x="10112093" y="14851995"/>
                    <a:pt x="12574049" y="13440354"/>
                    <a:pt x="13906904" y="11139709"/>
                  </a:cubicBezTo>
                  <a:cubicBezTo>
                    <a:pt x="15239758" y="8839064"/>
                    <a:pt x="15239758" y="6001115"/>
                    <a:pt x="13906904" y="3700470"/>
                  </a:cubicBezTo>
                  <a:cubicBezTo>
                    <a:pt x="12574049" y="1399825"/>
                    <a:pt x="10112093" y="-11816"/>
                    <a:pt x="7453273" y="75"/>
                  </a:cubicBezTo>
                  <a:close/>
                </a:path>
              </a:pathLst>
            </a:custGeom>
            <a:solidFill>
              <a:srgbClr val="38B6FF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168022" y="200309"/>
              <a:ext cx="14503985" cy="14439411"/>
            </a:xfrm>
            <a:custGeom>
              <a:avLst/>
              <a:gdLst/>
              <a:ahLst/>
              <a:cxnLst/>
              <a:rect r="r" b="b" t="t" l="l"/>
              <a:pathLst>
                <a:path h="14439411" w="14503985">
                  <a:moveTo>
                    <a:pt x="7251993" y="73"/>
                  </a:moveTo>
                  <a:cubicBezTo>
                    <a:pt x="4664974" y="-11497"/>
                    <a:pt x="2269506" y="1362022"/>
                    <a:pt x="972645" y="3600537"/>
                  </a:cubicBezTo>
                  <a:cubicBezTo>
                    <a:pt x="-324215" y="5839051"/>
                    <a:pt x="-324215" y="8600360"/>
                    <a:pt x="972645" y="10838875"/>
                  </a:cubicBezTo>
                  <a:cubicBezTo>
                    <a:pt x="2269506" y="13077389"/>
                    <a:pt x="4664974" y="14450908"/>
                    <a:pt x="7251993" y="14439338"/>
                  </a:cubicBezTo>
                  <a:cubicBezTo>
                    <a:pt x="9839011" y="14450908"/>
                    <a:pt x="12234479" y="13077389"/>
                    <a:pt x="13531340" y="10838875"/>
                  </a:cubicBezTo>
                  <a:cubicBezTo>
                    <a:pt x="14828201" y="8600360"/>
                    <a:pt x="14828201" y="5839051"/>
                    <a:pt x="13531340" y="3600537"/>
                  </a:cubicBezTo>
                  <a:cubicBezTo>
                    <a:pt x="12234479" y="1362022"/>
                    <a:pt x="9839011" y="-11497"/>
                    <a:pt x="7251993" y="7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531276" y="561946"/>
              <a:ext cx="13777477" cy="13716137"/>
            </a:xfrm>
            <a:custGeom>
              <a:avLst/>
              <a:gdLst/>
              <a:ahLst/>
              <a:cxnLst/>
              <a:rect r="r" b="b" t="t" l="l"/>
              <a:pathLst>
                <a:path h="13716137" w="13777477">
                  <a:moveTo>
                    <a:pt x="6888739" y="68"/>
                  </a:moveTo>
                  <a:cubicBezTo>
                    <a:pt x="4431305" y="-10922"/>
                    <a:pt x="2155826" y="1293797"/>
                    <a:pt x="923925" y="3420184"/>
                  </a:cubicBezTo>
                  <a:cubicBezTo>
                    <a:pt x="-307975" y="5546571"/>
                    <a:pt x="-307975" y="8169565"/>
                    <a:pt x="923925" y="10295952"/>
                  </a:cubicBezTo>
                  <a:cubicBezTo>
                    <a:pt x="2155826" y="12422339"/>
                    <a:pt x="4431305" y="13727058"/>
                    <a:pt x="6888739" y="13716068"/>
                  </a:cubicBezTo>
                  <a:cubicBezTo>
                    <a:pt x="9346172" y="13727058"/>
                    <a:pt x="11621651" y="12422339"/>
                    <a:pt x="12853552" y="10295952"/>
                  </a:cubicBezTo>
                  <a:cubicBezTo>
                    <a:pt x="14085452" y="8169565"/>
                    <a:pt x="14085452" y="5546571"/>
                    <a:pt x="12853552" y="3420184"/>
                  </a:cubicBezTo>
                  <a:cubicBezTo>
                    <a:pt x="11621651" y="1293797"/>
                    <a:pt x="9346172" y="-10922"/>
                    <a:pt x="6888739" y="68"/>
                  </a:cubicBezTo>
                  <a:close/>
                </a:path>
              </a:pathLst>
            </a:custGeom>
            <a:blipFill>
              <a:blip r:embed="rId7"/>
              <a:stretch>
                <a:fillRect l="-23629" t="-24439" r="-15519" b="-61922"/>
              </a:stretch>
            </a:blipFill>
          </p:spPr>
        </p:sp>
      </p:grpSp>
      <p:sp>
        <p:nvSpPr>
          <p:cNvPr name="Freeform 18" id="18"/>
          <p:cNvSpPr/>
          <p:nvPr/>
        </p:nvSpPr>
        <p:spPr>
          <a:xfrm flipH="false" flipV="false" rot="0">
            <a:off x="8142579" y="5345748"/>
            <a:ext cx="2722516" cy="935865"/>
          </a:xfrm>
          <a:custGeom>
            <a:avLst/>
            <a:gdLst/>
            <a:ahLst/>
            <a:cxnLst/>
            <a:rect r="r" b="b" t="t" l="l"/>
            <a:pathLst>
              <a:path h="935865" w="2722516">
                <a:moveTo>
                  <a:pt x="0" y="0"/>
                </a:moveTo>
                <a:lnTo>
                  <a:pt x="2722516" y="0"/>
                </a:lnTo>
                <a:lnTo>
                  <a:pt x="2722516" y="935865"/>
                </a:lnTo>
                <a:lnTo>
                  <a:pt x="0" y="93586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9" id="19"/>
          <p:cNvGrpSpPr>
            <a:grpSpLocks noChangeAspect="true"/>
          </p:cNvGrpSpPr>
          <p:nvPr/>
        </p:nvGrpSpPr>
        <p:grpSpPr>
          <a:xfrm rot="0">
            <a:off x="9789963" y="4059873"/>
            <a:ext cx="1870615" cy="1870615"/>
            <a:chOff x="0" y="0"/>
            <a:chExt cx="14840029" cy="14840029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-33258" y="-75"/>
              <a:ext cx="14906544" cy="14840178"/>
            </a:xfrm>
            <a:custGeom>
              <a:avLst/>
              <a:gdLst/>
              <a:ahLst/>
              <a:cxnLst/>
              <a:rect r="r" b="b" t="t" l="l"/>
              <a:pathLst>
                <a:path h="14840178" w="14906544">
                  <a:moveTo>
                    <a:pt x="7453273" y="75"/>
                  </a:moveTo>
                  <a:cubicBezTo>
                    <a:pt x="4794451" y="-11816"/>
                    <a:pt x="2332496" y="1399825"/>
                    <a:pt x="999642" y="3700470"/>
                  </a:cubicBezTo>
                  <a:cubicBezTo>
                    <a:pt x="-333213" y="6001115"/>
                    <a:pt x="-333213" y="8839064"/>
                    <a:pt x="999642" y="11139709"/>
                  </a:cubicBezTo>
                  <a:cubicBezTo>
                    <a:pt x="2332496" y="13440354"/>
                    <a:pt x="4794451" y="14851995"/>
                    <a:pt x="7453273" y="14840104"/>
                  </a:cubicBezTo>
                  <a:cubicBezTo>
                    <a:pt x="10112093" y="14851995"/>
                    <a:pt x="12574049" y="13440354"/>
                    <a:pt x="13906904" y="11139709"/>
                  </a:cubicBezTo>
                  <a:cubicBezTo>
                    <a:pt x="15239758" y="8839064"/>
                    <a:pt x="15239758" y="6001115"/>
                    <a:pt x="13906904" y="3700470"/>
                  </a:cubicBezTo>
                  <a:cubicBezTo>
                    <a:pt x="12574049" y="1399825"/>
                    <a:pt x="10112093" y="-11816"/>
                    <a:pt x="7453273" y="75"/>
                  </a:cubicBezTo>
                  <a:close/>
                </a:path>
              </a:pathLst>
            </a:custGeom>
            <a:solidFill>
              <a:srgbClr val="FF66C4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168022" y="200309"/>
              <a:ext cx="14503985" cy="14439411"/>
            </a:xfrm>
            <a:custGeom>
              <a:avLst/>
              <a:gdLst/>
              <a:ahLst/>
              <a:cxnLst/>
              <a:rect r="r" b="b" t="t" l="l"/>
              <a:pathLst>
                <a:path h="14439411" w="14503985">
                  <a:moveTo>
                    <a:pt x="7251993" y="73"/>
                  </a:moveTo>
                  <a:cubicBezTo>
                    <a:pt x="4664974" y="-11497"/>
                    <a:pt x="2269506" y="1362022"/>
                    <a:pt x="972645" y="3600537"/>
                  </a:cubicBezTo>
                  <a:cubicBezTo>
                    <a:pt x="-324215" y="5839051"/>
                    <a:pt x="-324215" y="8600360"/>
                    <a:pt x="972645" y="10838875"/>
                  </a:cubicBezTo>
                  <a:cubicBezTo>
                    <a:pt x="2269506" y="13077389"/>
                    <a:pt x="4664974" y="14450908"/>
                    <a:pt x="7251993" y="14439338"/>
                  </a:cubicBezTo>
                  <a:cubicBezTo>
                    <a:pt x="9839011" y="14450908"/>
                    <a:pt x="12234479" y="13077389"/>
                    <a:pt x="13531340" y="10838875"/>
                  </a:cubicBezTo>
                  <a:cubicBezTo>
                    <a:pt x="14828201" y="8600360"/>
                    <a:pt x="14828201" y="5839051"/>
                    <a:pt x="13531340" y="3600537"/>
                  </a:cubicBezTo>
                  <a:cubicBezTo>
                    <a:pt x="12234479" y="1362022"/>
                    <a:pt x="9839011" y="-11497"/>
                    <a:pt x="7251993" y="7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531276" y="561946"/>
              <a:ext cx="13777477" cy="13716137"/>
            </a:xfrm>
            <a:custGeom>
              <a:avLst/>
              <a:gdLst/>
              <a:ahLst/>
              <a:cxnLst/>
              <a:rect r="r" b="b" t="t" l="l"/>
              <a:pathLst>
                <a:path h="13716137" w="13777477">
                  <a:moveTo>
                    <a:pt x="6888739" y="68"/>
                  </a:moveTo>
                  <a:cubicBezTo>
                    <a:pt x="4431305" y="-10922"/>
                    <a:pt x="2155826" y="1293797"/>
                    <a:pt x="923925" y="3420184"/>
                  </a:cubicBezTo>
                  <a:cubicBezTo>
                    <a:pt x="-307975" y="5546571"/>
                    <a:pt x="-307975" y="8169565"/>
                    <a:pt x="923925" y="10295952"/>
                  </a:cubicBezTo>
                  <a:cubicBezTo>
                    <a:pt x="2155826" y="12422339"/>
                    <a:pt x="4431305" y="13727058"/>
                    <a:pt x="6888739" y="13716068"/>
                  </a:cubicBezTo>
                  <a:cubicBezTo>
                    <a:pt x="9346172" y="13727058"/>
                    <a:pt x="11621651" y="12422339"/>
                    <a:pt x="12853552" y="10295952"/>
                  </a:cubicBezTo>
                  <a:cubicBezTo>
                    <a:pt x="14085452" y="8169565"/>
                    <a:pt x="14085452" y="5546571"/>
                    <a:pt x="12853552" y="3420184"/>
                  </a:cubicBezTo>
                  <a:cubicBezTo>
                    <a:pt x="11621651" y="1293797"/>
                    <a:pt x="9346172" y="-10922"/>
                    <a:pt x="6888739" y="68"/>
                  </a:cubicBezTo>
                  <a:close/>
                </a:path>
              </a:pathLst>
            </a:custGeom>
            <a:blipFill>
              <a:blip r:embed="rId8"/>
              <a:stretch>
                <a:fillRect l="-25921" t="-87286" r="-48589" b="-46435"/>
              </a:stretch>
            </a:blipFill>
          </p:spPr>
        </p:sp>
      </p:grpSp>
      <p:sp>
        <p:nvSpPr>
          <p:cNvPr name="Freeform 23" id="23"/>
          <p:cNvSpPr/>
          <p:nvPr/>
        </p:nvSpPr>
        <p:spPr>
          <a:xfrm flipH="true" flipV="false" rot="0">
            <a:off x="4686427" y="5345748"/>
            <a:ext cx="2722516" cy="935865"/>
          </a:xfrm>
          <a:custGeom>
            <a:avLst/>
            <a:gdLst/>
            <a:ahLst/>
            <a:cxnLst/>
            <a:rect r="r" b="b" t="t" l="l"/>
            <a:pathLst>
              <a:path h="935865" w="2722516">
                <a:moveTo>
                  <a:pt x="2722516" y="0"/>
                </a:moveTo>
                <a:lnTo>
                  <a:pt x="0" y="0"/>
                </a:lnTo>
                <a:lnTo>
                  <a:pt x="0" y="935865"/>
                </a:lnTo>
                <a:lnTo>
                  <a:pt x="2722516" y="935865"/>
                </a:lnTo>
                <a:lnTo>
                  <a:pt x="2722516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4" id="24"/>
          <p:cNvGrpSpPr>
            <a:grpSpLocks noChangeAspect="true"/>
          </p:cNvGrpSpPr>
          <p:nvPr/>
        </p:nvGrpSpPr>
        <p:grpSpPr>
          <a:xfrm rot="0">
            <a:off x="6671573" y="5345748"/>
            <a:ext cx="1870615" cy="1870615"/>
            <a:chOff x="0" y="0"/>
            <a:chExt cx="14840029" cy="14840029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-33258" y="-75"/>
              <a:ext cx="14906544" cy="14840178"/>
            </a:xfrm>
            <a:custGeom>
              <a:avLst/>
              <a:gdLst/>
              <a:ahLst/>
              <a:cxnLst/>
              <a:rect r="r" b="b" t="t" l="l"/>
              <a:pathLst>
                <a:path h="14840178" w="14906544">
                  <a:moveTo>
                    <a:pt x="7453273" y="75"/>
                  </a:moveTo>
                  <a:cubicBezTo>
                    <a:pt x="4794451" y="-11816"/>
                    <a:pt x="2332496" y="1399825"/>
                    <a:pt x="999642" y="3700470"/>
                  </a:cubicBezTo>
                  <a:cubicBezTo>
                    <a:pt x="-333213" y="6001115"/>
                    <a:pt x="-333213" y="8839064"/>
                    <a:pt x="999642" y="11139709"/>
                  </a:cubicBezTo>
                  <a:cubicBezTo>
                    <a:pt x="2332496" y="13440354"/>
                    <a:pt x="4794451" y="14851995"/>
                    <a:pt x="7453273" y="14840104"/>
                  </a:cubicBezTo>
                  <a:cubicBezTo>
                    <a:pt x="10112093" y="14851995"/>
                    <a:pt x="12574049" y="13440354"/>
                    <a:pt x="13906904" y="11139709"/>
                  </a:cubicBezTo>
                  <a:cubicBezTo>
                    <a:pt x="15239758" y="8839064"/>
                    <a:pt x="15239758" y="6001115"/>
                    <a:pt x="13906904" y="3700470"/>
                  </a:cubicBezTo>
                  <a:cubicBezTo>
                    <a:pt x="12574049" y="1399825"/>
                    <a:pt x="10112093" y="-11816"/>
                    <a:pt x="7453273" y="75"/>
                  </a:cubicBezTo>
                  <a:close/>
                </a:path>
              </a:pathLst>
            </a:custGeom>
            <a:solidFill>
              <a:srgbClr val="38B6FF"/>
            </a:solid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168022" y="200309"/>
              <a:ext cx="14503985" cy="14439411"/>
            </a:xfrm>
            <a:custGeom>
              <a:avLst/>
              <a:gdLst/>
              <a:ahLst/>
              <a:cxnLst/>
              <a:rect r="r" b="b" t="t" l="l"/>
              <a:pathLst>
                <a:path h="14439411" w="14503985">
                  <a:moveTo>
                    <a:pt x="7251993" y="73"/>
                  </a:moveTo>
                  <a:cubicBezTo>
                    <a:pt x="4664974" y="-11497"/>
                    <a:pt x="2269506" y="1362022"/>
                    <a:pt x="972645" y="3600537"/>
                  </a:cubicBezTo>
                  <a:cubicBezTo>
                    <a:pt x="-324215" y="5839051"/>
                    <a:pt x="-324215" y="8600360"/>
                    <a:pt x="972645" y="10838875"/>
                  </a:cubicBezTo>
                  <a:cubicBezTo>
                    <a:pt x="2269506" y="13077389"/>
                    <a:pt x="4664974" y="14450908"/>
                    <a:pt x="7251993" y="14439338"/>
                  </a:cubicBezTo>
                  <a:cubicBezTo>
                    <a:pt x="9839011" y="14450908"/>
                    <a:pt x="12234479" y="13077389"/>
                    <a:pt x="13531340" y="10838875"/>
                  </a:cubicBezTo>
                  <a:cubicBezTo>
                    <a:pt x="14828201" y="8600360"/>
                    <a:pt x="14828201" y="5839051"/>
                    <a:pt x="13531340" y="3600537"/>
                  </a:cubicBezTo>
                  <a:cubicBezTo>
                    <a:pt x="12234479" y="1362022"/>
                    <a:pt x="9839011" y="-11497"/>
                    <a:pt x="7251993" y="7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7" id="27"/>
            <p:cNvSpPr/>
            <p:nvPr/>
          </p:nvSpPr>
          <p:spPr>
            <a:xfrm flipH="false" flipV="false" rot="0">
              <a:off x="531276" y="561946"/>
              <a:ext cx="13777477" cy="13716137"/>
            </a:xfrm>
            <a:custGeom>
              <a:avLst/>
              <a:gdLst/>
              <a:ahLst/>
              <a:cxnLst/>
              <a:rect r="r" b="b" t="t" l="l"/>
              <a:pathLst>
                <a:path h="13716137" w="13777477">
                  <a:moveTo>
                    <a:pt x="6888739" y="68"/>
                  </a:moveTo>
                  <a:cubicBezTo>
                    <a:pt x="4431305" y="-10922"/>
                    <a:pt x="2155826" y="1293797"/>
                    <a:pt x="923925" y="3420184"/>
                  </a:cubicBezTo>
                  <a:cubicBezTo>
                    <a:pt x="-307975" y="5546571"/>
                    <a:pt x="-307975" y="8169565"/>
                    <a:pt x="923925" y="10295952"/>
                  </a:cubicBezTo>
                  <a:cubicBezTo>
                    <a:pt x="2155826" y="12422339"/>
                    <a:pt x="4431305" y="13727058"/>
                    <a:pt x="6888739" y="13716068"/>
                  </a:cubicBezTo>
                  <a:cubicBezTo>
                    <a:pt x="9346172" y="13727058"/>
                    <a:pt x="11621651" y="12422339"/>
                    <a:pt x="12853552" y="10295952"/>
                  </a:cubicBezTo>
                  <a:cubicBezTo>
                    <a:pt x="14085452" y="8169565"/>
                    <a:pt x="14085452" y="5546571"/>
                    <a:pt x="12853552" y="3420184"/>
                  </a:cubicBezTo>
                  <a:cubicBezTo>
                    <a:pt x="11621651" y="1293797"/>
                    <a:pt x="9346172" y="-10922"/>
                    <a:pt x="6888739" y="68"/>
                  </a:cubicBezTo>
                  <a:close/>
                </a:path>
              </a:pathLst>
            </a:custGeom>
            <a:blipFill>
              <a:blip r:embed="rId9"/>
              <a:stretch>
                <a:fillRect l="-9902" t="-7264" r="-8456" b="-11623"/>
              </a:stretch>
            </a:blipFill>
          </p:spPr>
        </p:sp>
      </p:grpSp>
      <p:grpSp>
        <p:nvGrpSpPr>
          <p:cNvPr name="Group 28" id="28"/>
          <p:cNvGrpSpPr>
            <a:grpSpLocks noChangeAspect="true"/>
          </p:cNvGrpSpPr>
          <p:nvPr/>
        </p:nvGrpSpPr>
        <p:grpSpPr>
          <a:xfrm rot="0">
            <a:off x="3553182" y="4059873"/>
            <a:ext cx="1870615" cy="1870615"/>
            <a:chOff x="0" y="0"/>
            <a:chExt cx="14840029" cy="14840029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-33258" y="-75"/>
              <a:ext cx="14906544" cy="14840178"/>
            </a:xfrm>
            <a:custGeom>
              <a:avLst/>
              <a:gdLst/>
              <a:ahLst/>
              <a:cxnLst/>
              <a:rect r="r" b="b" t="t" l="l"/>
              <a:pathLst>
                <a:path h="14840178" w="14906544">
                  <a:moveTo>
                    <a:pt x="7453273" y="75"/>
                  </a:moveTo>
                  <a:cubicBezTo>
                    <a:pt x="4794451" y="-11816"/>
                    <a:pt x="2332496" y="1399825"/>
                    <a:pt x="999642" y="3700470"/>
                  </a:cubicBezTo>
                  <a:cubicBezTo>
                    <a:pt x="-333213" y="6001115"/>
                    <a:pt x="-333213" y="8839064"/>
                    <a:pt x="999642" y="11139709"/>
                  </a:cubicBezTo>
                  <a:cubicBezTo>
                    <a:pt x="2332496" y="13440354"/>
                    <a:pt x="4794451" y="14851995"/>
                    <a:pt x="7453273" y="14840104"/>
                  </a:cubicBezTo>
                  <a:cubicBezTo>
                    <a:pt x="10112093" y="14851995"/>
                    <a:pt x="12574049" y="13440354"/>
                    <a:pt x="13906904" y="11139709"/>
                  </a:cubicBezTo>
                  <a:cubicBezTo>
                    <a:pt x="15239758" y="8839064"/>
                    <a:pt x="15239758" y="6001115"/>
                    <a:pt x="13906904" y="3700470"/>
                  </a:cubicBezTo>
                  <a:cubicBezTo>
                    <a:pt x="12574049" y="1399825"/>
                    <a:pt x="10112093" y="-11816"/>
                    <a:pt x="7453273" y="75"/>
                  </a:cubicBezTo>
                  <a:close/>
                </a:path>
              </a:pathLst>
            </a:custGeom>
            <a:solidFill>
              <a:srgbClr val="FF66C4"/>
            </a:solidFill>
          </p:spPr>
        </p:sp>
        <p:sp>
          <p:nvSpPr>
            <p:cNvPr name="Freeform 30" id="30"/>
            <p:cNvSpPr/>
            <p:nvPr/>
          </p:nvSpPr>
          <p:spPr>
            <a:xfrm flipH="false" flipV="false" rot="0">
              <a:off x="168022" y="200309"/>
              <a:ext cx="14503985" cy="14439411"/>
            </a:xfrm>
            <a:custGeom>
              <a:avLst/>
              <a:gdLst/>
              <a:ahLst/>
              <a:cxnLst/>
              <a:rect r="r" b="b" t="t" l="l"/>
              <a:pathLst>
                <a:path h="14439411" w="14503985">
                  <a:moveTo>
                    <a:pt x="7251993" y="73"/>
                  </a:moveTo>
                  <a:cubicBezTo>
                    <a:pt x="4664974" y="-11497"/>
                    <a:pt x="2269506" y="1362022"/>
                    <a:pt x="972645" y="3600537"/>
                  </a:cubicBezTo>
                  <a:cubicBezTo>
                    <a:pt x="-324215" y="5839051"/>
                    <a:pt x="-324215" y="8600360"/>
                    <a:pt x="972645" y="10838875"/>
                  </a:cubicBezTo>
                  <a:cubicBezTo>
                    <a:pt x="2269506" y="13077389"/>
                    <a:pt x="4664974" y="14450908"/>
                    <a:pt x="7251993" y="14439338"/>
                  </a:cubicBezTo>
                  <a:cubicBezTo>
                    <a:pt x="9839011" y="14450908"/>
                    <a:pt x="12234479" y="13077389"/>
                    <a:pt x="13531340" y="10838875"/>
                  </a:cubicBezTo>
                  <a:cubicBezTo>
                    <a:pt x="14828201" y="8600360"/>
                    <a:pt x="14828201" y="5839051"/>
                    <a:pt x="13531340" y="3600537"/>
                  </a:cubicBezTo>
                  <a:cubicBezTo>
                    <a:pt x="12234479" y="1362022"/>
                    <a:pt x="9839011" y="-11497"/>
                    <a:pt x="7251993" y="7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531276" y="561946"/>
              <a:ext cx="13777477" cy="13716137"/>
            </a:xfrm>
            <a:custGeom>
              <a:avLst/>
              <a:gdLst/>
              <a:ahLst/>
              <a:cxnLst/>
              <a:rect r="r" b="b" t="t" l="l"/>
              <a:pathLst>
                <a:path h="13716137" w="13777477">
                  <a:moveTo>
                    <a:pt x="6888739" y="68"/>
                  </a:moveTo>
                  <a:cubicBezTo>
                    <a:pt x="4431305" y="-10922"/>
                    <a:pt x="2155826" y="1293797"/>
                    <a:pt x="923925" y="3420184"/>
                  </a:cubicBezTo>
                  <a:cubicBezTo>
                    <a:pt x="-307975" y="5546571"/>
                    <a:pt x="-307975" y="8169565"/>
                    <a:pt x="923925" y="10295952"/>
                  </a:cubicBezTo>
                  <a:cubicBezTo>
                    <a:pt x="2155826" y="12422339"/>
                    <a:pt x="4431305" y="13727058"/>
                    <a:pt x="6888739" y="13716068"/>
                  </a:cubicBezTo>
                  <a:cubicBezTo>
                    <a:pt x="9346172" y="13727058"/>
                    <a:pt x="11621651" y="12422339"/>
                    <a:pt x="12853552" y="10295952"/>
                  </a:cubicBezTo>
                  <a:cubicBezTo>
                    <a:pt x="14085452" y="8169565"/>
                    <a:pt x="14085452" y="5546571"/>
                    <a:pt x="12853552" y="3420184"/>
                  </a:cubicBezTo>
                  <a:cubicBezTo>
                    <a:pt x="11621651" y="1293797"/>
                    <a:pt x="9346172" y="-10922"/>
                    <a:pt x="6888739" y="68"/>
                  </a:cubicBezTo>
                  <a:close/>
                </a:path>
              </a:pathLst>
            </a:custGeom>
            <a:blipFill>
              <a:blip r:embed="rId10"/>
              <a:stretch>
                <a:fillRect l="-75309" t="-164041" r="-74037" b="-69908"/>
              </a:stretch>
            </a:blipFill>
          </p:spPr>
        </p:sp>
      </p:grpSp>
      <p:sp>
        <p:nvSpPr>
          <p:cNvPr name="Freeform 32" id="32"/>
          <p:cNvSpPr/>
          <p:nvPr/>
        </p:nvSpPr>
        <p:spPr>
          <a:xfrm flipH="false" flipV="false" rot="0">
            <a:off x="6360581" y="1068606"/>
            <a:ext cx="6286511" cy="971552"/>
          </a:xfrm>
          <a:custGeom>
            <a:avLst/>
            <a:gdLst/>
            <a:ahLst/>
            <a:cxnLst/>
            <a:rect r="r" b="b" t="t" l="l"/>
            <a:pathLst>
              <a:path h="971552" w="6286511">
                <a:moveTo>
                  <a:pt x="0" y="0"/>
                </a:moveTo>
                <a:lnTo>
                  <a:pt x="6286511" y="0"/>
                </a:lnTo>
                <a:lnTo>
                  <a:pt x="6286511" y="971552"/>
                </a:lnTo>
                <a:lnTo>
                  <a:pt x="0" y="971552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alphaModFix amt="59000"/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  <a:ln w="28575" cap="rnd">
            <a:solidFill>
              <a:srgbClr val="38B6FF">
                <a:alpha val="58824"/>
              </a:srgbClr>
            </a:solidFill>
            <a:prstDash val="solid"/>
            <a:round/>
          </a:ln>
        </p:spPr>
      </p:sp>
      <p:sp>
        <p:nvSpPr>
          <p:cNvPr name="Freeform 33" id="33"/>
          <p:cNvSpPr/>
          <p:nvPr/>
        </p:nvSpPr>
        <p:spPr>
          <a:xfrm flipH="false" flipV="false" rot="0">
            <a:off x="-354112" y="9003583"/>
            <a:ext cx="4434885" cy="935358"/>
          </a:xfrm>
          <a:custGeom>
            <a:avLst/>
            <a:gdLst/>
            <a:ahLst/>
            <a:cxnLst/>
            <a:rect r="r" b="b" t="t" l="l"/>
            <a:pathLst>
              <a:path h="935358" w="4434885">
                <a:moveTo>
                  <a:pt x="0" y="0"/>
                </a:moveTo>
                <a:lnTo>
                  <a:pt x="4434885" y="0"/>
                </a:lnTo>
                <a:lnTo>
                  <a:pt x="4434885" y="935358"/>
                </a:lnTo>
                <a:lnTo>
                  <a:pt x="0" y="935358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4" id="34"/>
          <p:cNvSpPr/>
          <p:nvPr/>
        </p:nvSpPr>
        <p:spPr>
          <a:xfrm flipH="false" flipV="false" rot="0">
            <a:off x="-392212" y="8430595"/>
            <a:ext cx="4132323" cy="2063579"/>
          </a:xfrm>
          <a:custGeom>
            <a:avLst/>
            <a:gdLst/>
            <a:ahLst/>
            <a:cxnLst/>
            <a:rect r="r" b="b" t="t" l="l"/>
            <a:pathLst>
              <a:path h="2063579" w="4132323">
                <a:moveTo>
                  <a:pt x="0" y="0"/>
                </a:moveTo>
                <a:lnTo>
                  <a:pt x="4132322" y="0"/>
                </a:lnTo>
                <a:lnTo>
                  <a:pt x="4132322" y="2063579"/>
                </a:lnTo>
                <a:lnTo>
                  <a:pt x="0" y="2063579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TextBox 35" id="35"/>
          <p:cNvSpPr txBox="true"/>
          <p:nvPr/>
        </p:nvSpPr>
        <p:spPr>
          <a:xfrm rot="0">
            <a:off x="395487" y="7552355"/>
            <a:ext cx="2039838" cy="4877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82"/>
              </a:lnSpc>
              <a:spcBef>
                <a:spcPct val="0"/>
              </a:spcBef>
            </a:pPr>
            <a:r>
              <a:rPr lang="en-US" b="true" sz="2916">
                <a:solidFill>
                  <a:srgbClr val="FFFFFF"/>
                </a:solidFill>
                <a:latin typeface="29LT Riwaya Bold"/>
                <a:ea typeface="29LT Riwaya Bold"/>
                <a:cs typeface="29LT Riwaya Bold"/>
                <a:sym typeface="29LT Riwaya Bold"/>
              </a:rPr>
              <a:t>Amr Ahmed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3183972" y="6350796"/>
            <a:ext cx="2609035" cy="4877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82"/>
              </a:lnSpc>
              <a:spcBef>
                <a:spcPct val="0"/>
              </a:spcBef>
            </a:pPr>
            <a:r>
              <a:rPr lang="en-US" b="true" sz="2916">
                <a:solidFill>
                  <a:srgbClr val="FFFFFF"/>
                </a:solidFill>
                <a:latin typeface="29LT Riwaya Bold"/>
                <a:ea typeface="29LT Riwaya Bold"/>
                <a:cs typeface="29LT Riwaya Bold"/>
                <a:sym typeface="29LT Riwaya Bold"/>
              </a:rPr>
              <a:t>Rofaida Ahmed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2361754" y="7552355"/>
            <a:ext cx="2963814" cy="4877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82"/>
              </a:lnSpc>
              <a:spcBef>
                <a:spcPct val="0"/>
              </a:spcBef>
            </a:pPr>
            <a:r>
              <a:rPr lang="en-US" b="true" sz="2916">
                <a:solidFill>
                  <a:srgbClr val="FFFFFF"/>
                </a:solidFill>
                <a:latin typeface="29LT Riwaya Bold"/>
                <a:ea typeface="29LT Riwaya Bold"/>
                <a:cs typeface="29LT Riwaya Bold"/>
                <a:sym typeface="29LT Riwaya Bold"/>
              </a:rPr>
              <a:t>Mohamed Ahmed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6195892" y="7552355"/>
            <a:ext cx="2821976" cy="4877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82"/>
              </a:lnSpc>
              <a:spcBef>
                <a:spcPct val="0"/>
              </a:spcBef>
            </a:pPr>
            <a:r>
              <a:rPr lang="en-US" b="true" sz="2916">
                <a:solidFill>
                  <a:srgbClr val="FFFFFF"/>
                </a:solidFill>
                <a:latin typeface="29LT Riwaya Bold"/>
                <a:ea typeface="29LT Riwaya Bold"/>
                <a:cs typeface="29LT Riwaya Bold"/>
                <a:sym typeface="29LT Riwaya Bold"/>
              </a:rPr>
              <a:t>Mohamed Waled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9216880" y="6350796"/>
            <a:ext cx="3016781" cy="4877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82"/>
              </a:lnSpc>
              <a:spcBef>
                <a:spcPct val="0"/>
              </a:spcBef>
            </a:pPr>
            <a:r>
              <a:rPr lang="en-US" b="true" sz="2916">
                <a:solidFill>
                  <a:srgbClr val="FFFFFF"/>
                </a:solidFill>
                <a:latin typeface="29LT Riwaya Bold"/>
                <a:ea typeface="29LT Riwaya Bold"/>
                <a:cs typeface="29LT Riwaya Bold"/>
                <a:sym typeface="29LT Riwaya Bold"/>
              </a:rPr>
              <a:t>Habiba Mahmoud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5758262" y="6350796"/>
            <a:ext cx="2325360" cy="4877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82"/>
              </a:lnSpc>
              <a:spcBef>
                <a:spcPct val="0"/>
              </a:spcBef>
            </a:pPr>
            <a:r>
              <a:rPr lang="en-US" b="true" sz="2916">
                <a:solidFill>
                  <a:srgbClr val="FFFFFF"/>
                </a:solidFill>
                <a:latin typeface="29LT Riwaya Bold"/>
                <a:ea typeface="29LT Riwaya Bold"/>
                <a:cs typeface="29LT Riwaya Bold"/>
                <a:sym typeface="29LT Riwaya Bold"/>
              </a:rPr>
              <a:t>Sara ElHattab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7157750" y="825910"/>
            <a:ext cx="4692174" cy="12142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72"/>
              </a:lnSpc>
              <a:spcBef>
                <a:spcPct val="0"/>
              </a:spcBef>
            </a:pPr>
            <a:r>
              <a:rPr lang="en-US" b="true" sz="6194">
                <a:solidFill>
                  <a:srgbClr val="FFFFFF"/>
                </a:solidFill>
                <a:latin typeface="29LT Zarid Serif Bold"/>
                <a:ea typeface="29LT Zarid Serif Bold"/>
                <a:cs typeface="29LT Zarid Serif Bold"/>
                <a:sym typeface="29LT Zarid Serif Bold"/>
              </a:rPr>
              <a:t>Meet Our Team 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448178" y="145208"/>
            <a:ext cx="7731855" cy="9958483"/>
            <a:chOff x="0" y="0"/>
            <a:chExt cx="2036373" cy="262281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036373" cy="2622810"/>
            </a:xfrm>
            <a:custGeom>
              <a:avLst/>
              <a:gdLst/>
              <a:ahLst/>
              <a:cxnLst/>
              <a:rect r="r" b="b" t="t" l="l"/>
              <a:pathLst>
                <a:path h="2622810" w="2036373">
                  <a:moveTo>
                    <a:pt x="51066" y="0"/>
                  </a:moveTo>
                  <a:lnTo>
                    <a:pt x="1985307" y="0"/>
                  </a:lnTo>
                  <a:cubicBezTo>
                    <a:pt x="1998851" y="0"/>
                    <a:pt x="2011840" y="5380"/>
                    <a:pt x="2021416" y="14957"/>
                  </a:cubicBezTo>
                  <a:cubicBezTo>
                    <a:pt x="2030993" y="24534"/>
                    <a:pt x="2036373" y="37523"/>
                    <a:pt x="2036373" y="51066"/>
                  </a:cubicBezTo>
                  <a:lnTo>
                    <a:pt x="2036373" y="2571744"/>
                  </a:lnTo>
                  <a:cubicBezTo>
                    <a:pt x="2036373" y="2585288"/>
                    <a:pt x="2030993" y="2598277"/>
                    <a:pt x="2021416" y="2607853"/>
                  </a:cubicBezTo>
                  <a:cubicBezTo>
                    <a:pt x="2011840" y="2617430"/>
                    <a:pt x="1998851" y="2622810"/>
                    <a:pt x="1985307" y="2622810"/>
                  </a:cubicBezTo>
                  <a:lnTo>
                    <a:pt x="51066" y="2622810"/>
                  </a:lnTo>
                  <a:cubicBezTo>
                    <a:pt x="37523" y="2622810"/>
                    <a:pt x="24534" y="2617430"/>
                    <a:pt x="14957" y="2607853"/>
                  </a:cubicBezTo>
                  <a:cubicBezTo>
                    <a:pt x="5380" y="2598277"/>
                    <a:pt x="0" y="2585288"/>
                    <a:pt x="0" y="2571744"/>
                  </a:cubicBezTo>
                  <a:lnTo>
                    <a:pt x="0" y="51066"/>
                  </a:lnTo>
                  <a:cubicBezTo>
                    <a:pt x="0" y="37523"/>
                    <a:pt x="5380" y="24534"/>
                    <a:pt x="14957" y="14957"/>
                  </a:cubicBezTo>
                  <a:cubicBezTo>
                    <a:pt x="24534" y="5380"/>
                    <a:pt x="37523" y="0"/>
                    <a:pt x="51066" y="0"/>
                  </a:cubicBezTo>
                  <a:close/>
                </a:path>
              </a:pathLst>
            </a:custGeom>
            <a:solidFill>
              <a:srgbClr val="021134">
                <a:alpha val="83922"/>
              </a:srgbClr>
            </a:solidFill>
            <a:ln w="38100" cap="rnd">
              <a:solidFill>
                <a:srgbClr val="FFFFFF">
                  <a:alpha val="83922"/>
                </a:srgbClr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036373" cy="26609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81261" y="2761990"/>
            <a:ext cx="10085393" cy="6086735"/>
            <a:chOff x="0" y="0"/>
            <a:chExt cx="8414870" cy="507854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414870" cy="5078540"/>
            </a:xfrm>
            <a:custGeom>
              <a:avLst/>
              <a:gdLst/>
              <a:ahLst/>
              <a:cxnLst/>
              <a:rect r="r" b="b" t="t" l="l"/>
              <a:pathLst>
                <a:path h="5078540" w="8414870">
                  <a:moveTo>
                    <a:pt x="0" y="4316759"/>
                  </a:moveTo>
                  <a:lnTo>
                    <a:pt x="0" y="761781"/>
                  </a:lnTo>
                  <a:cubicBezTo>
                    <a:pt x="0" y="340262"/>
                    <a:pt x="225519" y="0"/>
                    <a:pt x="504892" y="0"/>
                  </a:cubicBezTo>
                  <a:lnTo>
                    <a:pt x="7909978" y="0"/>
                  </a:lnTo>
                  <a:cubicBezTo>
                    <a:pt x="8189351" y="0"/>
                    <a:pt x="8414870" y="340262"/>
                    <a:pt x="8414870" y="761781"/>
                  </a:cubicBezTo>
                  <a:lnTo>
                    <a:pt x="8414870" y="4316759"/>
                  </a:lnTo>
                  <a:cubicBezTo>
                    <a:pt x="8414870" y="4738279"/>
                    <a:pt x="8189351" y="5078540"/>
                    <a:pt x="7909978" y="5078540"/>
                  </a:cubicBezTo>
                  <a:lnTo>
                    <a:pt x="504892" y="5078540"/>
                  </a:lnTo>
                  <a:cubicBezTo>
                    <a:pt x="225519" y="5078540"/>
                    <a:pt x="0" y="4738279"/>
                    <a:pt x="0" y="4316759"/>
                  </a:cubicBezTo>
                  <a:close/>
                </a:path>
              </a:pathLst>
            </a:custGeom>
            <a:blipFill>
              <a:blip r:embed="rId3"/>
              <a:stretch>
                <a:fillRect l="-3646" t="0" r="-3646" b="0"/>
              </a:stretch>
            </a:blipFill>
            <a:ln w="76200" cap="sq">
              <a:solidFill>
                <a:srgbClr val="10AB7B"/>
              </a:solidFill>
              <a:prstDash val="solid"/>
              <a:miter/>
            </a:ln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10785245" y="0"/>
            <a:ext cx="7394787" cy="10871555"/>
          </a:xfrm>
          <a:custGeom>
            <a:avLst/>
            <a:gdLst/>
            <a:ahLst/>
            <a:cxnLst/>
            <a:rect r="r" b="b" t="t" l="l"/>
            <a:pathLst>
              <a:path h="10871555" w="7394787">
                <a:moveTo>
                  <a:pt x="0" y="0"/>
                </a:moveTo>
                <a:lnTo>
                  <a:pt x="7394788" y="0"/>
                </a:lnTo>
                <a:lnTo>
                  <a:pt x="7394788" y="10871555"/>
                </a:lnTo>
                <a:lnTo>
                  <a:pt x="0" y="1087155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14000"/>
            </a:blip>
            <a:stretch>
              <a:fillRect l="-29041" t="0" r="-29041" b="0"/>
            </a:stretch>
          </a:blipFill>
        </p:spPr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9678269" y="2938465"/>
            <a:ext cx="9327965" cy="7522070"/>
          </a:xfrm>
          <a:prstGeom prst="rect">
            <a:avLst/>
          </a:prstGeom>
        </p:spPr>
      </p:pic>
      <p:sp>
        <p:nvSpPr>
          <p:cNvPr name="Freeform 10" id="10"/>
          <p:cNvSpPr/>
          <p:nvPr/>
        </p:nvSpPr>
        <p:spPr>
          <a:xfrm flipH="false" flipV="false" rot="0">
            <a:off x="10915531" y="1410417"/>
            <a:ext cx="7067539" cy="1236819"/>
          </a:xfrm>
          <a:custGeom>
            <a:avLst/>
            <a:gdLst/>
            <a:ahLst/>
            <a:cxnLst/>
            <a:rect r="r" b="b" t="t" l="l"/>
            <a:pathLst>
              <a:path h="1236819" w="7067539">
                <a:moveTo>
                  <a:pt x="0" y="0"/>
                </a:moveTo>
                <a:lnTo>
                  <a:pt x="7067538" y="0"/>
                </a:lnTo>
                <a:lnTo>
                  <a:pt x="7067538" y="1236819"/>
                </a:lnTo>
                <a:lnTo>
                  <a:pt x="0" y="123681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1263333" y="1095375"/>
            <a:ext cx="6286511" cy="971552"/>
          </a:xfrm>
          <a:custGeom>
            <a:avLst/>
            <a:gdLst/>
            <a:ahLst/>
            <a:cxnLst/>
            <a:rect r="r" b="b" t="t" l="l"/>
            <a:pathLst>
              <a:path h="971552" w="6286511">
                <a:moveTo>
                  <a:pt x="0" y="0"/>
                </a:moveTo>
                <a:lnTo>
                  <a:pt x="6286512" y="0"/>
                </a:lnTo>
                <a:lnTo>
                  <a:pt x="6286512" y="971552"/>
                </a:lnTo>
                <a:lnTo>
                  <a:pt x="0" y="97155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54000"/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  <a:ln w="28575" cap="rnd">
            <a:solidFill>
              <a:srgbClr val="026CCE">
                <a:alpha val="53725"/>
              </a:srgbClr>
            </a:solidFill>
            <a:prstDash val="solid"/>
            <a:round/>
          </a:ln>
        </p:spPr>
      </p:sp>
      <p:sp>
        <p:nvSpPr>
          <p:cNvPr name="Freeform 12" id="12"/>
          <p:cNvSpPr/>
          <p:nvPr/>
        </p:nvSpPr>
        <p:spPr>
          <a:xfrm flipH="false" flipV="false" rot="0">
            <a:off x="10396502" y="2882983"/>
            <a:ext cx="7891498" cy="69051"/>
          </a:xfrm>
          <a:custGeom>
            <a:avLst/>
            <a:gdLst/>
            <a:ahLst/>
            <a:cxnLst/>
            <a:rect r="r" b="b" t="t" l="l"/>
            <a:pathLst>
              <a:path h="69051" w="7891498">
                <a:moveTo>
                  <a:pt x="0" y="0"/>
                </a:moveTo>
                <a:lnTo>
                  <a:pt x="7891498" y="0"/>
                </a:lnTo>
                <a:lnTo>
                  <a:pt x="7891498" y="69051"/>
                </a:lnTo>
                <a:lnTo>
                  <a:pt x="0" y="6905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1573746" y="1042656"/>
            <a:ext cx="5732057" cy="10816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807"/>
              </a:lnSpc>
              <a:spcBef>
                <a:spcPct val="0"/>
              </a:spcBef>
            </a:pPr>
            <a:r>
              <a:rPr lang="en-US" sz="6291">
                <a:solidFill>
                  <a:srgbClr val="FFFFFF"/>
                </a:solidFill>
                <a:latin typeface="MediaPro Heavy Condensed"/>
                <a:ea typeface="MediaPro Heavy Condensed"/>
                <a:cs typeface="MediaPro Heavy Condensed"/>
                <a:sym typeface="MediaPro Heavy Condensed"/>
              </a:rPr>
              <a:t>Dataset</a:t>
            </a:r>
            <a:r>
              <a:rPr lang="en-US" sz="6291">
                <a:solidFill>
                  <a:srgbClr val="38B6FF"/>
                </a:solidFill>
                <a:latin typeface="MediaPro Heavy Condensed"/>
                <a:ea typeface="MediaPro Heavy Condensed"/>
                <a:cs typeface="MediaPro Heavy Condensed"/>
                <a:sym typeface="MediaPro Heavy Condensed"/>
              </a:rPr>
              <a:t>  Overview 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3761449" y="8226862"/>
            <a:ext cx="14353166" cy="1849351"/>
            <a:chOff x="0" y="0"/>
            <a:chExt cx="19137555" cy="2465801"/>
          </a:xfrm>
        </p:grpSpPr>
        <p:grpSp>
          <p:nvGrpSpPr>
            <p:cNvPr name="Group 4" id="4"/>
            <p:cNvGrpSpPr/>
            <p:nvPr/>
          </p:nvGrpSpPr>
          <p:grpSpPr>
            <a:xfrm rot="5400000">
              <a:off x="8335877" y="-8335877"/>
              <a:ext cx="2465801" cy="19137555"/>
              <a:chOff x="0" y="0"/>
              <a:chExt cx="487072" cy="3780258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487072" cy="3780258"/>
              </a:xfrm>
              <a:custGeom>
                <a:avLst/>
                <a:gdLst/>
                <a:ahLst/>
                <a:cxnLst/>
                <a:rect r="r" b="b" t="t" l="l"/>
                <a:pathLst>
                  <a:path h="3780258" w="487072">
                    <a:moveTo>
                      <a:pt x="213501" y="0"/>
                    </a:moveTo>
                    <a:lnTo>
                      <a:pt x="273571" y="0"/>
                    </a:lnTo>
                    <a:cubicBezTo>
                      <a:pt x="330195" y="0"/>
                      <a:pt x="384500" y="22494"/>
                      <a:pt x="424539" y="62533"/>
                    </a:cubicBezTo>
                    <a:cubicBezTo>
                      <a:pt x="464578" y="102572"/>
                      <a:pt x="487072" y="156877"/>
                      <a:pt x="487072" y="213501"/>
                    </a:cubicBezTo>
                    <a:lnTo>
                      <a:pt x="487072" y="3566757"/>
                    </a:lnTo>
                    <a:cubicBezTo>
                      <a:pt x="487072" y="3623381"/>
                      <a:pt x="464578" y="3677686"/>
                      <a:pt x="424539" y="3717725"/>
                    </a:cubicBezTo>
                    <a:cubicBezTo>
                      <a:pt x="384500" y="3757764"/>
                      <a:pt x="330195" y="3780258"/>
                      <a:pt x="273571" y="3780258"/>
                    </a:cubicBezTo>
                    <a:lnTo>
                      <a:pt x="213501" y="3780258"/>
                    </a:lnTo>
                    <a:cubicBezTo>
                      <a:pt x="156877" y="3780258"/>
                      <a:pt x="102572" y="3757764"/>
                      <a:pt x="62533" y="3717725"/>
                    </a:cubicBezTo>
                    <a:cubicBezTo>
                      <a:pt x="22494" y="3677686"/>
                      <a:pt x="0" y="3623381"/>
                      <a:pt x="0" y="3566757"/>
                    </a:cubicBezTo>
                    <a:lnTo>
                      <a:pt x="0" y="213501"/>
                    </a:lnTo>
                    <a:cubicBezTo>
                      <a:pt x="0" y="156877"/>
                      <a:pt x="22494" y="102572"/>
                      <a:pt x="62533" y="62533"/>
                    </a:cubicBezTo>
                    <a:cubicBezTo>
                      <a:pt x="102572" y="22494"/>
                      <a:pt x="156877" y="0"/>
                      <a:pt x="213501" y="0"/>
                    </a:cubicBezTo>
                    <a:close/>
                  </a:path>
                </a:pathLst>
              </a:custGeom>
              <a:solidFill>
                <a:srgbClr val="021134">
                  <a:alpha val="83922"/>
                </a:srgbClr>
              </a:solidFill>
              <a:ln w="19050" cap="rnd">
                <a:solidFill>
                  <a:srgbClr val="E2E3EA">
                    <a:alpha val="83922"/>
                  </a:srgbClr>
                </a:solidFill>
                <a:prstDash val="solid"/>
                <a:round/>
              </a:ln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-38100"/>
                <a:ext cx="487072" cy="381835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Freeform 7" id="7"/>
            <p:cNvSpPr/>
            <p:nvPr/>
          </p:nvSpPr>
          <p:spPr>
            <a:xfrm flipH="false" flipV="false" rot="5400000">
              <a:off x="8335877" y="-8335877"/>
              <a:ext cx="2465801" cy="19137555"/>
            </a:xfrm>
            <a:custGeom>
              <a:avLst/>
              <a:gdLst/>
              <a:ahLst/>
              <a:cxnLst/>
              <a:rect r="r" b="b" t="t" l="l"/>
              <a:pathLst>
                <a:path h="19137555" w="2465801">
                  <a:moveTo>
                    <a:pt x="0" y="0"/>
                  </a:moveTo>
                  <a:lnTo>
                    <a:pt x="2465801" y="0"/>
                  </a:lnTo>
                  <a:lnTo>
                    <a:pt x="2465801" y="19137555"/>
                  </a:lnTo>
                  <a:lnTo>
                    <a:pt x="0" y="191375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4000"/>
              </a:blip>
              <a:stretch>
                <a:fillRect l="-475308" t="-1245" r="-269621" b="0"/>
              </a:stretch>
            </a:blipFill>
            <a:ln cap="sq">
              <a:noFill/>
              <a:prstDash val="solid"/>
              <a:miter/>
            </a:ln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5781816" y="807449"/>
            <a:ext cx="7067539" cy="1236819"/>
          </a:xfrm>
          <a:custGeom>
            <a:avLst/>
            <a:gdLst/>
            <a:ahLst/>
            <a:cxnLst/>
            <a:rect r="r" b="b" t="t" l="l"/>
            <a:pathLst>
              <a:path h="1236819" w="7067539">
                <a:moveTo>
                  <a:pt x="0" y="0"/>
                </a:moveTo>
                <a:lnTo>
                  <a:pt x="7067539" y="0"/>
                </a:lnTo>
                <a:lnTo>
                  <a:pt x="7067539" y="1236819"/>
                </a:lnTo>
                <a:lnTo>
                  <a:pt x="0" y="123681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6129619" y="492407"/>
            <a:ext cx="6286511" cy="971552"/>
          </a:xfrm>
          <a:custGeom>
            <a:avLst/>
            <a:gdLst/>
            <a:ahLst/>
            <a:cxnLst/>
            <a:rect r="r" b="b" t="t" l="l"/>
            <a:pathLst>
              <a:path h="971552" w="6286511">
                <a:moveTo>
                  <a:pt x="0" y="0"/>
                </a:moveTo>
                <a:lnTo>
                  <a:pt x="6286511" y="0"/>
                </a:lnTo>
                <a:lnTo>
                  <a:pt x="6286511" y="971552"/>
                </a:lnTo>
                <a:lnTo>
                  <a:pt x="0" y="97155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54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  <a:ln w="28575" cap="rnd">
            <a:solidFill>
              <a:srgbClr val="026CCE">
                <a:alpha val="53725"/>
              </a:srgbClr>
            </a:solidFill>
            <a:prstDash val="solid"/>
            <a:round/>
          </a:ln>
        </p:spPr>
      </p:sp>
      <p:sp>
        <p:nvSpPr>
          <p:cNvPr name="TextBox 10" id="10"/>
          <p:cNvSpPr txBox="true"/>
          <p:nvPr/>
        </p:nvSpPr>
        <p:spPr>
          <a:xfrm rot="0">
            <a:off x="6536925" y="486623"/>
            <a:ext cx="5557322" cy="9801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27"/>
              </a:lnSpc>
              <a:spcBef>
                <a:spcPct val="0"/>
              </a:spcBef>
            </a:pPr>
            <a:r>
              <a:rPr lang="en-US" sz="5662">
                <a:solidFill>
                  <a:srgbClr val="FFFFFF"/>
                </a:solidFill>
                <a:latin typeface="MediaPro Heavy Condensed"/>
                <a:ea typeface="MediaPro Heavy Condensed"/>
                <a:cs typeface="MediaPro Heavy Condensed"/>
                <a:sym typeface="MediaPro Heavy Condensed"/>
              </a:rPr>
              <a:t>Data </a:t>
            </a:r>
            <a:r>
              <a:rPr lang="en-US" sz="5662">
                <a:solidFill>
                  <a:srgbClr val="38B6FF"/>
                </a:solidFill>
                <a:latin typeface="MediaPro Heavy Condensed"/>
                <a:ea typeface="MediaPro Heavy Condensed"/>
                <a:cs typeface="MediaPro Heavy Condensed"/>
                <a:sym typeface="MediaPro Heavy Condensed"/>
              </a:rPr>
              <a:t> </a:t>
            </a:r>
            <a:r>
              <a:rPr lang="en-US" sz="5662">
                <a:solidFill>
                  <a:srgbClr val="1631A5"/>
                </a:solidFill>
                <a:latin typeface="MediaPro Heavy Condensed"/>
                <a:ea typeface="MediaPro Heavy Condensed"/>
                <a:cs typeface="MediaPro Heavy Condensed"/>
                <a:sym typeface="MediaPro Heavy Condensed"/>
              </a:rPr>
              <a:t>Preparation 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3761449" y="6153688"/>
            <a:ext cx="14353166" cy="1849351"/>
            <a:chOff x="0" y="0"/>
            <a:chExt cx="19137555" cy="2465801"/>
          </a:xfrm>
        </p:grpSpPr>
        <p:grpSp>
          <p:nvGrpSpPr>
            <p:cNvPr name="Group 12" id="12"/>
            <p:cNvGrpSpPr/>
            <p:nvPr/>
          </p:nvGrpSpPr>
          <p:grpSpPr>
            <a:xfrm rot="5400000">
              <a:off x="8335877" y="-8335877"/>
              <a:ext cx="2465801" cy="19137555"/>
              <a:chOff x="0" y="0"/>
              <a:chExt cx="487072" cy="3780258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487072" cy="3780258"/>
              </a:xfrm>
              <a:custGeom>
                <a:avLst/>
                <a:gdLst/>
                <a:ahLst/>
                <a:cxnLst/>
                <a:rect r="r" b="b" t="t" l="l"/>
                <a:pathLst>
                  <a:path h="3780258" w="487072">
                    <a:moveTo>
                      <a:pt x="213501" y="0"/>
                    </a:moveTo>
                    <a:lnTo>
                      <a:pt x="273571" y="0"/>
                    </a:lnTo>
                    <a:cubicBezTo>
                      <a:pt x="330195" y="0"/>
                      <a:pt x="384500" y="22494"/>
                      <a:pt x="424539" y="62533"/>
                    </a:cubicBezTo>
                    <a:cubicBezTo>
                      <a:pt x="464578" y="102572"/>
                      <a:pt x="487072" y="156877"/>
                      <a:pt x="487072" y="213501"/>
                    </a:cubicBezTo>
                    <a:lnTo>
                      <a:pt x="487072" y="3566757"/>
                    </a:lnTo>
                    <a:cubicBezTo>
                      <a:pt x="487072" y="3623381"/>
                      <a:pt x="464578" y="3677686"/>
                      <a:pt x="424539" y="3717725"/>
                    </a:cubicBezTo>
                    <a:cubicBezTo>
                      <a:pt x="384500" y="3757764"/>
                      <a:pt x="330195" y="3780258"/>
                      <a:pt x="273571" y="3780258"/>
                    </a:cubicBezTo>
                    <a:lnTo>
                      <a:pt x="213501" y="3780258"/>
                    </a:lnTo>
                    <a:cubicBezTo>
                      <a:pt x="156877" y="3780258"/>
                      <a:pt x="102572" y="3757764"/>
                      <a:pt x="62533" y="3717725"/>
                    </a:cubicBezTo>
                    <a:cubicBezTo>
                      <a:pt x="22494" y="3677686"/>
                      <a:pt x="0" y="3623381"/>
                      <a:pt x="0" y="3566757"/>
                    </a:cubicBezTo>
                    <a:lnTo>
                      <a:pt x="0" y="213501"/>
                    </a:lnTo>
                    <a:cubicBezTo>
                      <a:pt x="0" y="156877"/>
                      <a:pt x="22494" y="102572"/>
                      <a:pt x="62533" y="62533"/>
                    </a:cubicBezTo>
                    <a:cubicBezTo>
                      <a:pt x="102572" y="22494"/>
                      <a:pt x="156877" y="0"/>
                      <a:pt x="213501" y="0"/>
                    </a:cubicBezTo>
                    <a:close/>
                  </a:path>
                </a:pathLst>
              </a:custGeom>
              <a:solidFill>
                <a:srgbClr val="021134">
                  <a:alpha val="83922"/>
                </a:srgbClr>
              </a:solidFill>
              <a:ln w="19050" cap="rnd">
                <a:solidFill>
                  <a:srgbClr val="E2E3EA">
                    <a:alpha val="83922"/>
                  </a:srgbClr>
                </a:solidFill>
                <a:prstDash val="solid"/>
                <a:round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38100"/>
                <a:ext cx="487072" cy="381835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Freeform 15" id="15"/>
            <p:cNvSpPr/>
            <p:nvPr/>
          </p:nvSpPr>
          <p:spPr>
            <a:xfrm flipH="false" flipV="false" rot="5400000">
              <a:off x="8335877" y="-8335877"/>
              <a:ext cx="2465801" cy="19137555"/>
            </a:xfrm>
            <a:custGeom>
              <a:avLst/>
              <a:gdLst/>
              <a:ahLst/>
              <a:cxnLst/>
              <a:rect r="r" b="b" t="t" l="l"/>
              <a:pathLst>
                <a:path h="19137555" w="2465801">
                  <a:moveTo>
                    <a:pt x="0" y="0"/>
                  </a:moveTo>
                  <a:lnTo>
                    <a:pt x="2465801" y="0"/>
                  </a:lnTo>
                  <a:lnTo>
                    <a:pt x="2465801" y="19137555"/>
                  </a:lnTo>
                  <a:lnTo>
                    <a:pt x="0" y="191375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4000"/>
              </a:blip>
              <a:stretch>
                <a:fillRect l="-475308" t="-1245" r="-269621" b="0"/>
              </a:stretch>
            </a:blipFill>
            <a:ln cap="sq">
              <a:noFill/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3761449" y="4079743"/>
            <a:ext cx="14353166" cy="1849351"/>
            <a:chOff x="0" y="0"/>
            <a:chExt cx="19137555" cy="2465801"/>
          </a:xfrm>
        </p:grpSpPr>
        <p:grpSp>
          <p:nvGrpSpPr>
            <p:cNvPr name="Group 17" id="17"/>
            <p:cNvGrpSpPr/>
            <p:nvPr/>
          </p:nvGrpSpPr>
          <p:grpSpPr>
            <a:xfrm rot="5400000">
              <a:off x="8335877" y="-8335877"/>
              <a:ext cx="2465801" cy="19137555"/>
              <a:chOff x="0" y="0"/>
              <a:chExt cx="487072" cy="3780258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487072" cy="3780258"/>
              </a:xfrm>
              <a:custGeom>
                <a:avLst/>
                <a:gdLst/>
                <a:ahLst/>
                <a:cxnLst/>
                <a:rect r="r" b="b" t="t" l="l"/>
                <a:pathLst>
                  <a:path h="3780258" w="487072">
                    <a:moveTo>
                      <a:pt x="213501" y="0"/>
                    </a:moveTo>
                    <a:lnTo>
                      <a:pt x="273571" y="0"/>
                    </a:lnTo>
                    <a:cubicBezTo>
                      <a:pt x="330195" y="0"/>
                      <a:pt x="384500" y="22494"/>
                      <a:pt x="424539" y="62533"/>
                    </a:cubicBezTo>
                    <a:cubicBezTo>
                      <a:pt x="464578" y="102572"/>
                      <a:pt x="487072" y="156877"/>
                      <a:pt x="487072" y="213501"/>
                    </a:cubicBezTo>
                    <a:lnTo>
                      <a:pt x="487072" y="3566757"/>
                    </a:lnTo>
                    <a:cubicBezTo>
                      <a:pt x="487072" y="3623381"/>
                      <a:pt x="464578" y="3677686"/>
                      <a:pt x="424539" y="3717725"/>
                    </a:cubicBezTo>
                    <a:cubicBezTo>
                      <a:pt x="384500" y="3757764"/>
                      <a:pt x="330195" y="3780258"/>
                      <a:pt x="273571" y="3780258"/>
                    </a:cubicBezTo>
                    <a:lnTo>
                      <a:pt x="213501" y="3780258"/>
                    </a:lnTo>
                    <a:cubicBezTo>
                      <a:pt x="156877" y="3780258"/>
                      <a:pt x="102572" y="3757764"/>
                      <a:pt x="62533" y="3717725"/>
                    </a:cubicBezTo>
                    <a:cubicBezTo>
                      <a:pt x="22494" y="3677686"/>
                      <a:pt x="0" y="3623381"/>
                      <a:pt x="0" y="3566757"/>
                    </a:cubicBezTo>
                    <a:lnTo>
                      <a:pt x="0" y="213501"/>
                    </a:lnTo>
                    <a:cubicBezTo>
                      <a:pt x="0" y="156877"/>
                      <a:pt x="22494" y="102572"/>
                      <a:pt x="62533" y="62533"/>
                    </a:cubicBezTo>
                    <a:cubicBezTo>
                      <a:pt x="102572" y="22494"/>
                      <a:pt x="156877" y="0"/>
                      <a:pt x="213501" y="0"/>
                    </a:cubicBezTo>
                    <a:close/>
                  </a:path>
                </a:pathLst>
              </a:custGeom>
              <a:solidFill>
                <a:srgbClr val="021134">
                  <a:alpha val="83922"/>
                </a:srgbClr>
              </a:solidFill>
              <a:ln w="19050" cap="rnd">
                <a:solidFill>
                  <a:srgbClr val="E2E3EA">
                    <a:alpha val="83922"/>
                  </a:srgbClr>
                </a:solidFill>
                <a:prstDash val="solid"/>
                <a:round/>
              </a:ln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-38100"/>
                <a:ext cx="487072" cy="381835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Freeform 20" id="20"/>
            <p:cNvSpPr/>
            <p:nvPr/>
          </p:nvSpPr>
          <p:spPr>
            <a:xfrm flipH="false" flipV="false" rot="5400000">
              <a:off x="8335877" y="-8335877"/>
              <a:ext cx="2465801" cy="19137555"/>
            </a:xfrm>
            <a:custGeom>
              <a:avLst/>
              <a:gdLst/>
              <a:ahLst/>
              <a:cxnLst/>
              <a:rect r="r" b="b" t="t" l="l"/>
              <a:pathLst>
                <a:path h="19137555" w="2465801">
                  <a:moveTo>
                    <a:pt x="0" y="0"/>
                  </a:moveTo>
                  <a:lnTo>
                    <a:pt x="2465801" y="0"/>
                  </a:lnTo>
                  <a:lnTo>
                    <a:pt x="2465801" y="19137555"/>
                  </a:lnTo>
                  <a:lnTo>
                    <a:pt x="0" y="191375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4000"/>
              </a:blip>
              <a:stretch>
                <a:fillRect l="-475308" t="-1245" r="-269621" b="0"/>
              </a:stretch>
            </a:blipFill>
            <a:ln cap="sq">
              <a:noFill/>
              <a:prstDash val="solid"/>
              <a:miter/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3761449" y="2005799"/>
            <a:ext cx="14353166" cy="1849351"/>
            <a:chOff x="0" y="0"/>
            <a:chExt cx="19137555" cy="2465801"/>
          </a:xfrm>
        </p:grpSpPr>
        <p:grpSp>
          <p:nvGrpSpPr>
            <p:cNvPr name="Group 22" id="22"/>
            <p:cNvGrpSpPr/>
            <p:nvPr/>
          </p:nvGrpSpPr>
          <p:grpSpPr>
            <a:xfrm rot="5400000">
              <a:off x="8335877" y="-8335877"/>
              <a:ext cx="2465801" cy="19137555"/>
              <a:chOff x="0" y="0"/>
              <a:chExt cx="487072" cy="3780258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487072" cy="3780258"/>
              </a:xfrm>
              <a:custGeom>
                <a:avLst/>
                <a:gdLst/>
                <a:ahLst/>
                <a:cxnLst/>
                <a:rect r="r" b="b" t="t" l="l"/>
                <a:pathLst>
                  <a:path h="3780258" w="487072">
                    <a:moveTo>
                      <a:pt x="213501" y="0"/>
                    </a:moveTo>
                    <a:lnTo>
                      <a:pt x="273571" y="0"/>
                    </a:lnTo>
                    <a:cubicBezTo>
                      <a:pt x="330195" y="0"/>
                      <a:pt x="384500" y="22494"/>
                      <a:pt x="424539" y="62533"/>
                    </a:cubicBezTo>
                    <a:cubicBezTo>
                      <a:pt x="464578" y="102572"/>
                      <a:pt x="487072" y="156877"/>
                      <a:pt x="487072" y="213501"/>
                    </a:cubicBezTo>
                    <a:lnTo>
                      <a:pt x="487072" y="3566757"/>
                    </a:lnTo>
                    <a:cubicBezTo>
                      <a:pt x="487072" y="3623381"/>
                      <a:pt x="464578" y="3677686"/>
                      <a:pt x="424539" y="3717725"/>
                    </a:cubicBezTo>
                    <a:cubicBezTo>
                      <a:pt x="384500" y="3757764"/>
                      <a:pt x="330195" y="3780258"/>
                      <a:pt x="273571" y="3780258"/>
                    </a:cubicBezTo>
                    <a:lnTo>
                      <a:pt x="213501" y="3780258"/>
                    </a:lnTo>
                    <a:cubicBezTo>
                      <a:pt x="156877" y="3780258"/>
                      <a:pt x="102572" y="3757764"/>
                      <a:pt x="62533" y="3717725"/>
                    </a:cubicBezTo>
                    <a:cubicBezTo>
                      <a:pt x="22494" y="3677686"/>
                      <a:pt x="0" y="3623381"/>
                      <a:pt x="0" y="3566757"/>
                    </a:cubicBezTo>
                    <a:lnTo>
                      <a:pt x="0" y="213501"/>
                    </a:lnTo>
                    <a:cubicBezTo>
                      <a:pt x="0" y="156877"/>
                      <a:pt x="22494" y="102572"/>
                      <a:pt x="62533" y="62533"/>
                    </a:cubicBezTo>
                    <a:cubicBezTo>
                      <a:pt x="102572" y="22494"/>
                      <a:pt x="156877" y="0"/>
                      <a:pt x="213501" y="0"/>
                    </a:cubicBezTo>
                    <a:close/>
                  </a:path>
                </a:pathLst>
              </a:custGeom>
              <a:solidFill>
                <a:srgbClr val="021134">
                  <a:alpha val="83922"/>
                </a:srgbClr>
              </a:solidFill>
              <a:ln w="19050" cap="rnd">
                <a:solidFill>
                  <a:srgbClr val="E2E3EA">
                    <a:alpha val="83922"/>
                  </a:srgbClr>
                </a:solidFill>
                <a:prstDash val="solid"/>
                <a:round/>
              </a:ln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0" y="-38100"/>
                <a:ext cx="487072" cy="381835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Freeform 25" id="25"/>
            <p:cNvSpPr/>
            <p:nvPr/>
          </p:nvSpPr>
          <p:spPr>
            <a:xfrm flipH="false" flipV="false" rot="5400000">
              <a:off x="8335877" y="-8335877"/>
              <a:ext cx="2465801" cy="19137555"/>
            </a:xfrm>
            <a:custGeom>
              <a:avLst/>
              <a:gdLst/>
              <a:ahLst/>
              <a:cxnLst/>
              <a:rect r="r" b="b" t="t" l="l"/>
              <a:pathLst>
                <a:path h="19137555" w="2465801">
                  <a:moveTo>
                    <a:pt x="0" y="0"/>
                  </a:moveTo>
                  <a:lnTo>
                    <a:pt x="2465801" y="0"/>
                  </a:lnTo>
                  <a:lnTo>
                    <a:pt x="2465801" y="19137555"/>
                  </a:lnTo>
                  <a:lnTo>
                    <a:pt x="0" y="191375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4000"/>
              </a:blip>
              <a:stretch>
                <a:fillRect l="-475308" t="-1245" r="-269621" b="0"/>
              </a:stretch>
            </a:blipFill>
            <a:ln cap="sq">
              <a:noFill/>
              <a:prstDash val="solid"/>
              <a:miter/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208688" y="2015693"/>
            <a:ext cx="3375764" cy="1837638"/>
            <a:chOff x="0" y="0"/>
            <a:chExt cx="4501019" cy="2450184"/>
          </a:xfrm>
        </p:grpSpPr>
        <p:grpSp>
          <p:nvGrpSpPr>
            <p:cNvPr name="Group 27" id="27"/>
            <p:cNvGrpSpPr/>
            <p:nvPr/>
          </p:nvGrpSpPr>
          <p:grpSpPr>
            <a:xfrm rot="5400000">
              <a:off x="1025418" y="-1025418"/>
              <a:ext cx="2450184" cy="4501019"/>
              <a:chOff x="0" y="0"/>
              <a:chExt cx="483987" cy="889090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483987" cy="889090"/>
              </a:xfrm>
              <a:custGeom>
                <a:avLst/>
                <a:gdLst/>
                <a:ahLst/>
                <a:cxnLst/>
                <a:rect r="r" b="b" t="t" l="l"/>
                <a:pathLst>
                  <a:path h="889090" w="483987">
                    <a:moveTo>
                      <a:pt x="214862" y="0"/>
                    </a:moveTo>
                    <a:lnTo>
                      <a:pt x="269125" y="0"/>
                    </a:lnTo>
                    <a:cubicBezTo>
                      <a:pt x="387790" y="0"/>
                      <a:pt x="483987" y="96197"/>
                      <a:pt x="483987" y="214862"/>
                    </a:cubicBezTo>
                    <a:lnTo>
                      <a:pt x="483987" y="674228"/>
                    </a:lnTo>
                    <a:cubicBezTo>
                      <a:pt x="483987" y="792893"/>
                      <a:pt x="387790" y="889090"/>
                      <a:pt x="269125" y="889090"/>
                    </a:cubicBezTo>
                    <a:lnTo>
                      <a:pt x="214862" y="889090"/>
                    </a:lnTo>
                    <a:cubicBezTo>
                      <a:pt x="96197" y="889090"/>
                      <a:pt x="0" y="792893"/>
                      <a:pt x="0" y="674228"/>
                    </a:cubicBezTo>
                    <a:lnTo>
                      <a:pt x="0" y="214862"/>
                    </a:lnTo>
                    <a:cubicBezTo>
                      <a:pt x="0" y="96197"/>
                      <a:pt x="96197" y="0"/>
                      <a:pt x="214862" y="0"/>
                    </a:cubicBezTo>
                    <a:close/>
                  </a:path>
                </a:pathLst>
              </a:custGeom>
              <a:solidFill>
                <a:srgbClr val="021134">
                  <a:alpha val="83922"/>
                </a:srgbClr>
              </a:solidFill>
              <a:ln w="19050" cap="rnd">
                <a:solidFill>
                  <a:srgbClr val="E2E3EA">
                    <a:alpha val="83922"/>
                  </a:srgbClr>
                </a:solidFill>
                <a:prstDash val="solid"/>
                <a:round/>
              </a:ln>
            </p:spPr>
          </p:sp>
          <p:sp>
            <p:nvSpPr>
              <p:cNvPr name="TextBox 29" id="29"/>
              <p:cNvSpPr txBox="true"/>
              <p:nvPr/>
            </p:nvSpPr>
            <p:spPr>
              <a:xfrm>
                <a:off x="0" y="-38100"/>
                <a:ext cx="483987" cy="92719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Freeform 30" id="30"/>
            <p:cNvSpPr/>
            <p:nvPr/>
          </p:nvSpPr>
          <p:spPr>
            <a:xfrm flipH="false" flipV="false" rot="5400000">
              <a:off x="1025418" y="-1025418"/>
              <a:ext cx="2450184" cy="4501019"/>
            </a:xfrm>
            <a:custGeom>
              <a:avLst/>
              <a:gdLst/>
              <a:ahLst/>
              <a:cxnLst/>
              <a:rect r="r" b="b" t="t" l="l"/>
              <a:pathLst>
                <a:path h="4501019" w="2450184">
                  <a:moveTo>
                    <a:pt x="0" y="0"/>
                  </a:moveTo>
                  <a:lnTo>
                    <a:pt x="2450183" y="0"/>
                  </a:lnTo>
                  <a:lnTo>
                    <a:pt x="2450183" y="4501019"/>
                  </a:lnTo>
                  <a:lnTo>
                    <a:pt x="0" y="45010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4000"/>
              </a:blip>
              <a:stretch>
                <a:fillRect l="-74336" t="-1245" r="-25651" b="0"/>
              </a:stretch>
            </a:blipFill>
            <a:ln cap="sq">
              <a:noFill/>
              <a:prstDash val="solid"/>
              <a:miter/>
            </a:ln>
          </p:spPr>
        </p:sp>
      </p:grpSp>
      <p:grpSp>
        <p:nvGrpSpPr>
          <p:cNvPr name="Group 31" id="31"/>
          <p:cNvGrpSpPr/>
          <p:nvPr/>
        </p:nvGrpSpPr>
        <p:grpSpPr>
          <a:xfrm rot="0">
            <a:off x="208688" y="4091456"/>
            <a:ext cx="3375764" cy="1837638"/>
            <a:chOff x="0" y="0"/>
            <a:chExt cx="4501019" cy="2450184"/>
          </a:xfrm>
        </p:grpSpPr>
        <p:grpSp>
          <p:nvGrpSpPr>
            <p:cNvPr name="Group 32" id="32"/>
            <p:cNvGrpSpPr/>
            <p:nvPr/>
          </p:nvGrpSpPr>
          <p:grpSpPr>
            <a:xfrm rot="5400000">
              <a:off x="1025418" y="-1025418"/>
              <a:ext cx="2450184" cy="4501019"/>
              <a:chOff x="0" y="0"/>
              <a:chExt cx="483987" cy="889090"/>
            </a:xfrm>
          </p:grpSpPr>
          <p:sp>
            <p:nvSpPr>
              <p:cNvPr name="Freeform 33" id="33"/>
              <p:cNvSpPr/>
              <p:nvPr/>
            </p:nvSpPr>
            <p:spPr>
              <a:xfrm flipH="false" flipV="false" rot="0">
                <a:off x="0" y="0"/>
                <a:ext cx="483987" cy="889090"/>
              </a:xfrm>
              <a:custGeom>
                <a:avLst/>
                <a:gdLst/>
                <a:ahLst/>
                <a:cxnLst/>
                <a:rect r="r" b="b" t="t" l="l"/>
                <a:pathLst>
                  <a:path h="889090" w="483987">
                    <a:moveTo>
                      <a:pt x="214862" y="0"/>
                    </a:moveTo>
                    <a:lnTo>
                      <a:pt x="269125" y="0"/>
                    </a:lnTo>
                    <a:cubicBezTo>
                      <a:pt x="387790" y="0"/>
                      <a:pt x="483987" y="96197"/>
                      <a:pt x="483987" y="214862"/>
                    </a:cubicBezTo>
                    <a:lnTo>
                      <a:pt x="483987" y="674228"/>
                    </a:lnTo>
                    <a:cubicBezTo>
                      <a:pt x="483987" y="792893"/>
                      <a:pt x="387790" y="889090"/>
                      <a:pt x="269125" y="889090"/>
                    </a:cubicBezTo>
                    <a:lnTo>
                      <a:pt x="214862" y="889090"/>
                    </a:lnTo>
                    <a:cubicBezTo>
                      <a:pt x="96197" y="889090"/>
                      <a:pt x="0" y="792893"/>
                      <a:pt x="0" y="674228"/>
                    </a:cubicBezTo>
                    <a:lnTo>
                      <a:pt x="0" y="214862"/>
                    </a:lnTo>
                    <a:cubicBezTo>
                      <a:pt x="0" y="96197"/>
                      <a:pt x="96197" y="0"/>
                      <a:pt x="214862" y="0"/>
                    </a:cubicBezTo>
                    <a:close/>
                  </a:path>
                </a:pathLst>
              </a:custGeom>
              <a:solidFill>
                <a:srgbClr val="021134">
                  <a:alpha val="83922"/>
                </a:srgbClr>
              </a:solidFill>
              <a:ln w="19050" cap="rnd">
                <a:solidFill>
                  <a:srgbClr val="E2E3EA">
                    <a:alpha val="83922"/>
                  </a:srgbClr>
                </a:solidFill>
                <a:prstDash val="solid"/>
                <a:round/>
              </a:ln>
            </p:spPr>
          </p:sp>
          <p:sp>
            <p:nvSpPr>
              <p:cNvPr name="TextBox 34" id="34"/>
              <p:cNvSpPr txBox="true"/>
              <p:nvPr/>
            </p:nvSpPr>
            <p:spPr>
              <a:xfrm>
                <a:off x="0" y="-38100"/>
                <a:ext cx="483987" cy="92719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Freeform 35" id="35"/>
            <p:cNvSpPr/>
            <p:nvPr/>
          </p:nvSpPr>
          <p:spPr>
            <a:xfrm flipH="false" flipV="false" rot="5400000">
              <a:off x="1025418" y="-1025418"/>
              <a:ext cx="2450184" cy="4501019"/>
            </a:xfrm>
            <a:custGeom>
              <a:avLst/>
              <a:gdLst/>
              <a:ahLst/>
              <a:cxnLst/>
              <a:rect r="r" b="b" t="t" l="l"/>
              <a:pathLst>
                <a:path h="4501019" w="2450184">
                  <a:moveTo>
                    <a:pt x="0" y="0"/>
                  </a:moveTo>
                  <a:lnTo>
                    <a:pt x="2450183" y="0"/>
                  </a:lnTo>
                  <a:lnTo>
                    <a:pt x="2450183" y="4501019"/>
                  </a:lnTo>
                  <a:lnTo>
                    <a:pt x="0" y="45010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4000"/>
              </a:blip>
              <a:stretch>
                <a:fillRect l="-74336" t="-1245" r="-25651" b="0"/>
              </a:stretch>
            </a:blipFill>
            <a:ln cap="sq">
              <a:noFill/>
              <a:prstDash val="solid"/>
              <a:miter/>
            </a:ln>
          </p:spPr>
        </p:sp>
      </p:grpSp>
      <p:grpSp>
        <p:nvGrpSpPr>
          <p:cNvPr name="Group 36" id="36"/>
          <p:cNvGrpSpPr/>
          <p:nvPr/>
        </p:nvGrpSpPr>
        <p:grpSpPr>
          <a:xfrm rot="0">
            <a:off x="208688" y="8238575"/>
            <a:ext cx="3375764" cy="1837638"/>
            <a:chOff x="0" y="0"/>
            <a:chExt cx="4501019" cy="2450184"/>
          </a:xfrm>
        </p:grpSpPr>
        <p:grpSp>
          <p:nvGrpSpPr>
            <p:cNvPr name="Group 37" id="37"/>
            <p:cNvGrpSpPr/>
            <p:nvPr/>
          </p:nvGrpSpPr>
          <p:grpSpPr>
            <a:xfrm rot="5400000">
              <a:off x="1025418" y="-1025418"/>
              <a:ext cx="2450184" cy="4501019"/>
              <a:chOff x="0" y="0"/>
              <a:chExt cx="483987" cy="889090"/>
            </a:xfrm>
          </p:grpSpPr>
          <p:sp>
            <p:nvSpPr>
              <p:cNvPr name="Freeform 38" id="38"/>
              <p:cNvSpPr/>
              <p:nvPr/>
            </p:nvSpPr>
            <p:spPr>
              <a:xfrm flipH="false" flipV="false" rot="0">
                <a:off x="0" y="0"/>
                <a:ext cx="483987" cy="889090"/>
              </a:xfrm>
              <a:custGeom>
                <a:avLst/>
                <a:gdLst/>
                <a:ahLst/>
                <a:cxnLst/>
                <a:rect r="r" b="b" t="t" l="l"/>
                <a:pathLst>
                  <a:path h="889090" w="483987">
                    <a:moveTo>
                      <a:pt x="214862" y="0"/>
                    </a:moveTo>
                    <a:lnTo>
                      <a:pt x="269125" y="0"/>
                    </a:lnTo>
                    <a:cubicBezTo>
                      <a:pt x="387790" y="0"/>
                      <a:pt x="483987" y="96197"/>
                      <a:pt x="483987" y="214862"/>
                    </a:cubicBezTo>
                    <a:lnTo>
                      <a:pt x="483987" y="674228"/>
                    </a:lnTo>
                    <a:cubicBezTo>
                      <a:pt x="483987" y="792893"/>
                      <a:pt x="387790" y="889090"/>
                      <a:pt x="269125" y="889090"/>
                    </a:cubicBezTo>
                    <a:lnTo>
                      <a:pt x="214862" y="889090"/>
                    </a:lnTo>
                    <a:cubicBezTo>
                      <a:pt x="96197" y="889090"/>
                      <a:pt x="0" y="792893"/>
                      <a:pt x="0" y="674228"/>
                    </a:cubicBezTo>
                    <a:lnTo>
                      <a:pt x="0" y="214862"/>
                    </a:lnTo>
                    <a:cubicBezTo>
                      <a:pt x="0" y="96197"/>
                      <a:pt x="96197" y="0"/>
                      <a:pt x="214862" y="0"/>
                    </a:cubicBezTo>
                    <a:close/>
                  </a:path>
                </a:pathLst>
              </a:custGeom>
              <a:solidFill>
                <a:srgbClr val="021134">
                  <a:alpha val="83922"/>
                </a:srgbClr>
              </a:solidFill>
              <a:ln w="19050" cap="rnd">
                <a:solidFill>
                  <a:srgbClr val="E2E3EA">
                    <a:alpha val="83922"/>
                  </a:srgbClr>
                </a:solidFill>
                <a:prstDash val="solid"/>
                <a:round/>
              </a:ln>
            </p:spPr>
          </p:sp>
          <p:sp>
            <p:nvSpPr>
              <p:cNvPr name="TextBox 39" id="39"/>
              <p:cNvSpPr txBox="true"/>
              <p:nvPr/>
            </p:nvSpPr>
            <p:spPr>
              <a:xfrm>
                <a:off x="0" y="-38100"/>
                <a:ext cx="483987" cy="92719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Freeform 40" id="40"/>
            <p:cNvSpPr/>
            <p:nvPr/>
          </p:nvSpPr>
          <p:spPr>
            <a:xfrm flipH="false" flipV="false" rot="5400000">
              <a:off x="1025418" y="-1025418"/>
              <a:ext cx="2450184" cy="4501019"/>
            </a:xfrm>
            <a:custGeom>
              <a:avLst/>
              <a:gdLst/>
              <a:ahLst/>
              <a:cxnLst/>
              <a:rect r="r" b="b" t="t" l="l"/>
              <a:pathLst>
                <a:path h="4501019" w="2450184">
                  <a:moveTo>
                    <a:pt x="0" y="0"/>
                  </a:moveTo>
                  <a:lnTo>
                    <a:pt x="2450183" y="0"/>
                  </a:lnTo>
                  <a:lnTo>
                    <a:pt x="2450183" y="4501019"/>
                  </a:lnTo>
                  <a:lnTo>
                    <a:pt x="0" y="45010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4000"/>
              </a:blip>
              <a:stretch>
                <a:fillRect l="-74336" t="-1245" r="-25651" b="0"/>
              </a:stretch>
            </a:blipFill>
            <a:ln cap="sq">
              <a:noFill/>
              <a:prstDash val="solid"/>
              <a:miter/>
            </a:ln>
          </p:spPr>
        </p:sp>
      </p:grpSp>
      <p:grpSp>
        <p:nvGrpSpPr>
          <p:cNvPr name="Group 41" id="41"/>
          <p:cNvGrpSpPr/>
          <p:nvPr/>
        </p:nvGrpSpPr>
        <p:grpSpPr>
          <a:xfrm rot="0">
            <a:off x="208688" y="6165401"/>
            <a:ext cx="3375764" cy="1837638"/>
            <a:chOff x="0" y="0"/>
            <a:chExt cx="4501019" cy="2450184"/>
          </a:xfrm>
        </p:grpSpPr>
        <p:grpSp>
          <p:nvGrpSpPr>
            <p:cNvPr name="Group 42" id="42"/>
            <p:cNvGrpSpPr/>
            <p:nvPr/>
          </p:nvGrpSpPr>
          <p:grpSpPr>
            <a:xfrm rot="5400000">
              <a:off x="1025418" y="-1025418"/>
              <a:ext cx="2450184" cy="4501019"/>
              <a:chOff x="0" y="0"/>
              <a:chExt cx="483987" cy="889090"/>
            </a:xfrm>
          </p:grpSpPr>
          <p:sp>
            <p:nvSpPr>
              <p:cNvPr name="Freeform 43" id="43"/>
              <p:cNvSpPr/>
              <p:nvPr/>
            </p:nvSpPr>
            <p:spPr>
              <a:xfrm flipH="false" flipV="false" rot="0">
                <a:off x="0" y="0"/>
                <a:ext cx="483987" cy="889090"/>
              </a:xfrm>
              <a:custGeom>
                <a:avLst/>
                <a:gdLst/>
                <a:ahLst/>
                <a:cxnLst/>
                <a:rect r="r" b="b" t="t" l="l"/>
                <a:pathLst>
                  <a:path h="889090" w="483987">
                    <a:moveTo>
                      <a:pt x="214862" y="0"/>
                    </a:moveTo>
                    <a:lnTo>
                      <a:pt x="269125" y="0"/>
                    </a:lnTo>
                    <a:cubicBezTo>
                      <a:pt x="387790" y="0"/>
                      <a:pt x="483987" y="96197"/>
                      <a:pt x="483987" y="214862"/>
                    </a:cubicBezTo>
                    <a:lnTo>
                      <a:pt x="483987" y="674228"/>
                    </a:lnTo>
                    <a:cubicBezTo>
                      <a:pt x="483987" y="792893"/>
                      <a:pt x="387790" y="889090"/>
                      <a:pt x="269125" y="889090"/>
                    </a:cubicBezTo>
                    <a:lnTo>
                      <a:pt x="214862" y="889090"/>
                    </a:lnTo>
                    <a:cubicBezTo>
                      <a:pt x="96197" y="889090"/>
                      <a:pt x="0" y="792893"/>
                      <a:pt x="0" y="674228"/>
                    </a:cubicBezTo>
                    <a:lnTo>
                      <a:pt x="0" y="214862"/>
                    </a:lnTo>
                    <a:cubicBezTo>
                      <a:pt x="0" y="96197"/>
                      <a:pt x="96197" y="0"/>
                      <a:pt x="214862" y="0"/>
                    </a:cubicBezTo>
                    <a:close/>
                  </a:path>
                </a:pathLst>
              </a:custGeom>
              <a:solidFill>
                <a:srgbClr val="021134">
                  <a:alpha val="83922"/>
                </a:srgbClr>
              </a:solidFill>
              <a:ln w="19050" cap="rnd">
                <a:solidFill>
                  <a:srgbClr val="E2E3EA">
                    <a:alpha val="83922"/>
                  </a:srgbClr>
                </a:solidFill>
                <a:prstDash val="solid"/>
                <a:round/>
              </a:ln>
            </p:spPr>
          </p:sp>
          <p:sp>
            <p:nvSpPr>
              <p:cNvPr name="TextBox 44" id="44"/>
              <p:cNvSpPr txBox="true"/>
              <p:nvPr/>
            </p:nvSpPr>
            <p:spPr>
              <a:xfrm>
                <a:off x="0" y="-38100"/>
                <a:ext cx="483987" cy="92719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Freeform 45" id="45"/>
            <p:cNvSpPr/>
            <p:nvPr/>
          </p:nvSpPr>
          <p:spPr>
            <a:xfrm flipH="false" flipV="false" rot="5400000">
              <a:off x="1025418" y="-1025418"/>
              <a:ext cx="2450184" cy="4501019"/>
            </a:xfrm>
            <a:custGeom>
              <a:avLst/>
              <a:gdLst/>
              <a:ahLst/>
              <a:cxnLst/>
              <a:rect r="r" b="b" t="t" l="l"/>
              <a:pathLst>
                <a:path h="4501019" w="2450184">
                  <a:moveTo>
                    <a:pt x="0" y="0"/>
                  </a:moveTo>
                  <a:lnTo>
                    <a:pt x="2450183" y="0"/>
                  </a:lnTo>
                  <a:lnTo>
                    <a:pt x="2450183" y="4501019"/>
                  </a:lnTo>
                  <a:lnTo>
                    <a:pt x="0" y="45010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4000"/>
              </a:blip>
              <a:stretch>
                <a:fillRect l="-74336" t="-1245" r="-25651" b="0"/>
              </a:stretch>
            </a:blipFill>
            <a:ln cap="sq">
              <a:noFill/>
              <a:prstDash val="solid"/>
              <a:miter/>
            </a:ln>
          </p:spPr>
        </p:sp>
      </p:grpSp>
      <p:sp>
        <p:nvSpPr>
          <p:cNvPr name="TextBox 46" id="46"/>
          <p:cNvSpPr txBox="true"/>
          <p:nvPr/>
        </p:nvSpPr>
        <p:spPr>
          <a:xfrm rot="0">
            <a:off x="730634" y="2633822"/>
            <a:ext cx="2331871" cy="525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28"/>
              </a:lnSpc>
            </a:pPr>
            <a:r>
              <a:rPr lang="en-US" sz="2948">
                <a:solidFill>
                  <a:srgbClr val="FFFFFF"/>
                </a:solidFill>
                <a:latin typeface="Tagamo3"/>
                <a:ea typeface="Tagamo3"/>
                <a:cs typeface="Tagamo3"/>
                <a:sym typeface="Tagamo3"/>
              </a:rPr>
              <a:t>Data Append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730634" y="4709585"/>
            <a:ext cx="2331871" cy="525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28"/>
              </a:lnSpc>
            </a:pPr>
            <a:r>
              <a:rPr lang="en-US" sz="2948">
                <a:solidFill>
                  <a:srgbClr val="FFFFFF"/>
                </a:solidFill>
                <a:latin typeface="Tagamo3"/>
                <a:ea typeface="Tagamo3"/>
                <a:cs typeface="Tagamo3"/>
                <a:sym typeface="Tagamo3"/>
              </a:rPr>
              <a:t>Data Unpivot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673484" y="6515083"/>
            <a:ext cx="2608032" cy="525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28"/>
              </a:lnSpc>
            </a:pPr>
            <a:r>
              <a:rPr lang="en-US" sz="2948">
                <a:solidFill>
                  <a:srgbClr val="FFFFFF"/>
                </a:solidFill>
                <a:latin typeface="Tagamo3"/>
                <a:ea typeface="Tagamo3"/>
                <a:cs typeface="Tagamo3"/>
                <a:sym typeface="Tagamo3"/>
              </a:rPr>
              <a:t>Baseline 2019 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621128" y="8593588"/>
            <a:ext cx="2550882" cy="525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28"/>
              </a:lnSpc>
            </a:pPr>
            <a:r>
              <a:rPr lang="en-US" sz="2948">
                <a:solidFill>
                  <a:srgbClr val="FFFFFF"/>
                </a:solidFill>
                <a:latin typeface="Tagamo3"/>
                <a:ea typeface="Tagamo3"/>
                <a:cs typeface="Tagamo3"/>
                <a:sym typeface="Tagamo3"/>
              </a:rPr>
              <a:t>Baseline 2019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4133562" y="2395152"/>
            <a:ext cx="13608941" cy="1003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88"/>
              </a:lnSpc>
              <a:spcBef>
                <a:spcPct val="0"/>
              </a:spcBef>
            </a:pPr>
            <a:r>
              <a:rPr lang="en-US" b="true" sz="2848">
                <a:solidFill>
                  <a:srgbClr val="FFFFFF"/>
                </a:solidFill>
                <a:latin typeface="Tagamo3"/>
                <a:ea typeface="Tagamo3"/>
                <a:cs typeface="Tagamo3"/>
                <a:sym typeface="Tagamo3"/>
              </a:rPr>
              <a:t>Combined annual transportation dataset files into one single consolidated table (MTA) for a continuous time-series analysis (2019 - 2024).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365725" y="7002163"/>
            <a:ext cx="3137890" cy="4629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3"/>
              </a:lnSpc>
            </a:pPr>
            <a:r>
              <a:rPr lang="en-US" sz="2602">
                <a:solidFill>
                  <a:srgbClr val="FFFFFF"/>
                </a:solidFill>
                <a:latin typeface="Tagamo3"/>
                <a:ea typeface="Tagamo3"/>
                <a:cs typeface="Tagamo3"/>
                <a:sym typeface="Tagamo3"/>
              </a:rPr>
              <a:t>(Detailed Group By)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308575" y="9115935"/>
            <a:ext cx="3463476" cy="4032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1"/>
              </a:lnSpc>
            </a:pPr>
            <a:r>
              <a:rPr lang="en-US" sz="2272">
                <a:solidFill>
                  <a:srgbClr val="FFFFFF"/>
                </a:solidFill>
                <a:latin typeface="Tagamo3"/>
                <a:ea typeface="Tagamo3"/>
                <a:cs typeface="Tagamo3"/>
                <a:sym typeface="Tagamo3"/>
              </a:rPr>
              <a:t>(Aggregated Group By)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4030937" y="4474952"/>
            <a:ext cx="13814191" cy="1003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88"/>
              </a:lnSpc>
              <a:spcBef>
                <a:spcPct val="0"/>
              </a:spcBef>
            </a:pPr>
            <a:r>
              <a:rPr lang="en-US" b="true" sz="2848">
                <a:solidFill>
                  <a:srgbClr val="FFFFFF"/>
                </a:solidFill>
                <a:latin typeface="Tagamo3"/>
                <a:ea typeface="Tagamo3"/>
                <a:cs typeface="Tagamo3"/>
                <a:sym typeface="Tagamo3"/>
              </a:rPr>
              <a:t>Transformed wide transport type columns into a narrow format (Transport Type &amp; Ridership Volume) to optimize Power BI performance and storage.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3950390" y="6548897"/>
            <a:ext cx="13975285" cy="1003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88"/>
              </a:lnSpc>
              <a:spcBef>
                <a:spcPct val="0"/>
              </a:spcBef>
            </a:pPr>
            <a:r>
              <a:rPr lang="en-US" b="true" sz="2848">
                <a:solidFill>
                  <a:srgbClr val="FFFFFF"/>
                </a:solidFill>
                <a:latin typeface="Tagamo3"/>
                <a:ea typeface="Tagamo3"/>
                <a:cs typeface="Tagamo3"/>
                <a:sym typeface="Tagamo3"/>
              </a:rPr>
              <a:t>Aggregated data by Month, Day, and Day Type (Weekend/Weekday) for granular level and high-accuracy trend comparisons.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4158446" y="8637763"/>
            <a:ext cx="13584056" cy="1003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88"/>
              </a:lnSpc>
              <a:spcBef>
                <a:spcPct val="0"/>
              </a:spcBef>
            </a:pPr>
            <a:r>
              <a:rPr lang="en-US" b="true" sz="2848">
                <a:solidFill>
                  <a:srgbClr val="FFFFFF"/>
                </a:solidFill>
                <a:latin typeface="Tagamo3"/>
                <a:ea typeface="Tagamo3"/>
                <a:cs typeface="Tagamo3"/>
                <a:sym typeface="Tagamo3"/>
              </a:rPr>
              <a:t>Grouped data by Month and Day Type only to speed up dashboard processing and optimize KPI card performance.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448178" y="207121"/>
            <a:ext cx="7692061" cy="9952242"/>
            <a:chOff x="0" y="0"/>
            <a:chExt cx="2025893" cy="262116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025893" cy="2621167"/>
            </a:xfrm>
            <a:custGeom>
              <a:avLst/>
              <a:gdLst/>
              <a:ahLst/>
              <a:cxnLst/>
              <a:rect r="r" b="b" t="t" l="l"/>
              <a:pathLst>
                <a:path h="2621167" w="2025893">
                  <a:moveTo>
                    <a:pt x="51331" y="0"/>
                  </a:moveTo>
                  <a:lnTo>
                    <a:pt x="1974562" y="0"/>
                  </a:lnTo>
                  <a:cubicBezTo>
                    <a:pt x="2002911" y="0"/>
                    <a:pt x="2025893" y="22981"/>
                    <a:pt x="2025893" y="51331"/>
                  </a:cubicBezTo>
                  <a:lnTo>
                    <a:pt x="2025893" y="2569836"/>
                  </a:lnTo>
                  <a:cubicBezTo>
                    <a:pt x="2025893" y="2583450"/>
                    <a:pt x="2020485" y="2596506"/>
                    <a:pt x="2010858" y="2606132"/>
                  </a:cubicBezTo>
                  <a:cubicBezTo>
                    <a:pt x="2001232" y="2615759"/>
                    <a:pt x="1988176" y="2621167"/>
                    <a:pt x="1974562" y="2621167"/>
                  </a:cubicBezTo>
                  <a:lnTo>
                    <a:pt x="51331" y="2621167"/>
                  </a:lnTo>
                  <a:cubicBezTo>
                    <a:pt x="37717" y="2621167"/>
                    <a:pt x="24661" y="2615759"/>
                    <a:pt x="15034" y="2606132"/>
                  </a:cubicBezTo>
                  <a:cubicBezTo>
                    <a:pt x="5408" y="2596506"/>
                    <a:pt x="0" y="2583450"/>
                    <a:pt x="0" y="2569836"/>
                  </a:cubicBezTo>
                  <a:lnTo>
                    <a:pt x="0" y="51331"/>
                  </a:lnTo>
                  <a:cubicBezTo>
                    <a:pt x="0" y="37717"/>
                    <a:pt x="5408" y="24661"/>
                    <a:pt x="15034" y="15034"/>
                  </a:cubicBezTo>
                  <a:cubicBezTo>
                    <a:pt x="24661" y="5408"/>
                    <a:pt x="37717" y="0"/>
                    <a:pt x="51331" y="0"/>
                  </a:cubicBezTo>
                  <a:close/>
                </a:path>
              </a:pathLst>
            </a:custGeom>
            <a:solidFill>
              <a:srgbClr val="021134">
                <a:alpha val="83922"/>
              </a:srgbClr>
            </a:solidFill>
            <a:ln w="38100" cap="rnd">
              <a:solidFill>
                <a:srgbClr val="FFFFFF">
                  <a:alpha val="83922"/>
                </a:srgbClr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025893" cy="26592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81261" y="3793265"/>
            <a:ext cx="10085393" cy="5557551"/>
            <a:chOff x="0" y="0"/>
            <a:chExt cx="8414870" cy="463701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414870" cy="4637010"/>
            </a:xfrm>
            <a:custGeom>
              <a:avLst/>
              <a:gdLst/>
              <a:ahLst/>
              <a:cxnLst/>
              <a:rect r="r" b="b" t="t" l="l"/>
              <a:pathLst>
                <a:path h="4637010" w="8414870">
                  <a:moveTo>
                    <a:pt x="0" y="3941459"/>
                  </a:moveTo>
                  <a:lnTo>
                    <a:pt x="0" y="695552"/>
                  </a:lnTo>
                  <a:cubicBezTo>
                    <a:pt x="0" y="310680"/>
                    <a:pt x="225519" y="0"/>
                    <a:pt x="504892" y="0"/>
                  </a:cubicBezTo>
                  <a:lnTo>
                    <a:pt x="7909978" y="0"/>
                  </a:lnTo>
                  <a:cubicBezTo>
                    <a:pt x="8189351" y="0"/>
                    <a:pt x="8414870" y="310680"/>
                    <a:pt x="8414870" y="695552"/>
                  </a:cubicBezTo>
                  <a:lnTo>
                    <a:pt x="8414870" y="3941459"/>
                  </a:lnTo>
                  <a:cubicBezTo>
                    <a:pt x="8414870" y="4326330"/>
                    <a:pt x="8189351" y="4637010"/>
                    <a:pt x="7909978" y="4637010"/>
                  </a:cubicBezTo>
                  <a:lnTo>
                    <a:pt x="504892" y="4637010"/>
                  </a:lnTo>
                  <a:cubicBezTo>
                    <a:pt x="225519" y="4637010"/>
                    <a:pt x="0" y="4326330"/>
                    <a:pt x="0" y="3941459"/>
                  </a:cubicBezTo>
                  <a:close/>
                </a:path>
              </a:pathLst>
            </a:custGeom>
            <a:blipFill>
              <a:blip r:embed="rId3"/>
              <a:stretch>
                <a:fillRect l="0" t="-857" r="0" b="-857"/>
              </a:stretch>
            </a:blipFill>
            <a:ln w="66675" cap="sq">
              <a:solidFill>
                <a:srgbClr val="87C2DB"/>
              </a:solidFill>
              <a:prstDash val="solid"/>
              <a:miter/>
            </a:ln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10785245" y="0"/>
            <a:ext cx="7394787" cy="10871555"/>
          </a:xfrm>
          <a:custGeom>
            <a:avLst/>
            <a:gdLst/>
            <a:ahLst/>
            <a:cxnLst/>
            <a:rect r="r" b="b" t="t" l="l"/>
            <a:pathLst>
              <a:path h="10871555" w="7394787">
                <a:moveTo>
                  <a:pt x="0" y="0"/>
                </a:moveTo>
                <a:lnTo>
                  <a:pt x="7394788" y="0"/>
                </a:lnTo>
                <a:lnTo>
                  <a:pt x="7394788" y="10871555"/>
                </a:lnTo>
                <a:lnTo>
                  <a:pt x="0" y="1087155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14000"/>
            </a:blip>
            <a:stretch>
              <a:fillRect l="-29041" t="0" r="-29041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351345" y="2303171"/>
            <a:ext cx="10136739" cy="1773929"/>
          </a:xfrm>
          <a:custGeom>
            <a:avLst/>
            <a:gdLst/>
            <a:ahLst/>
            <a:cxnLst/>
            <a:rect r="r" b="b" t="t" l="l"/>
            <a:pathLst>
              <a:path h="1773929" w="10136739">
                <a:moveTo>
                  <a:pt x="0" y="0"/>
                </a:moveTo>
                <a:lnTo>
                  <a:pt x="10136740" y="0"/>
                </a:lnTo>
                <a:lnTo>
                  <a:pt x="10136740" y="1773930"/>
                </a:lnTo>
                <a:lnTo>
                  <a:pt x="0" y="177393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0682164" y="3738782"/>
            <a:ext cx="7315200" cy="64008"/>
          </a:xfrm>
          <a:custGeom>
            <a:avLst/>
            <a:gdLst/>
            <a:ahLst/>
            <a:cxnLst/>
            <a:rect r="r" b="b" t="t" l="l"/>
            <a:pathLst>
              <a:path h="64008" w="7315200">
                <a:moveTo>
                  <a:pt x="0" y="0"/>
                </a:moveTo>
                <a:lnTo>
                  <a:pt x="7315200" y="0"/>
                </a:lnTo>
                <a:lnTo>
                  <a:pt x="7315200" y="64008"/>
                </a:lnTo>
                <a:lnTo>
                  <a:pt x="0" y="6400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487252" y="1972932"/>
            <a:ext cx="8459546" cy="1592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018"/>
              </a:lnSpc>
              <a:spcBef>
                <a:spcPct val="0"/>
              </a:spcBef>
            </a:pPr>
            <a:r>
              <a:rPr lang="en-US" sz="9298">
                <a:solidFill>
                  <a:srgbClr val="FFFFFF"/>
                </a:solidFill>
                <a:latin typeface="MediaPro Heavy Condensed"/>
                <a:ea typeface="MediaPro Heavy Condensed"/>
                <a:cs typeface="MediaPro Heavy Condensed"/>
                <a:sym typeface="MediaPro Heavy Condensed"/>
              </a:rPr>
              <a:t>Project</a:t>
            </a:r>
            <a:r>
              <a:rPr lang="en-US" sz="9298">
                <a:solidFill>
                  <a:srgbClr val="38B6FF"/>
                </a:solidFill>
                <a:latin typeface="MediaPro Heavy Condensed"/>
                <a:ea typeface="MediaPro Heavy Condensed"/>
                <a:cs typeface="MediaPro Heavy Condensed"/>
                <a:sym typeface="MediaPro Heavy Condensed"/>
              </a:rPr>
              <a:t>  Overview :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620278" y="1303940"/>
            <a:ext cx="7572322" cy="1335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8"/>
              </a:lnSpc>
              <a:spcBef>
                <a:spcPct val="0"/>
              </a:spcBef>
            </a:pPr>
            <a:r>
              <a:rPr lang="en-US" sz="2548">
                <a:solidFill>
                  <a:srgbClr val="FFFFFF"/>
                </a:solidFill>
                <a:latin typeface="Tagamo3"/>
                <a:ea typeface="Tagamo3"/>
                <a:cs typeface="Tagamo3"/>
                <a:sym typeface="Tagamo3"/>
              </a:rPr>
              <a:t>Analyzing the impact and recovery of New York City's transportation network after the COVID-19 pandemic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11899525" y="4801963"/>
            <a:ext cx="4376148" cy="765826"/>
          </a:xfrm>
          <a:custGeom>
            <a:avLst/>
            <a:gdLst/>
            <a:ahLst/>
            <a:cxnLst/>
            <a:rect r="r" b="b" t="t" l="l"/>
            <a:pathLst>
              <a:path h="765826" w="4376148">
                <a:moveTo>
                  <a:pt x="0" y="0"/>
                </a:moveTo>
                <a:lnTo>
                  <a:pt x="4376147" y="0"/>
                </a:lnTo>
                <a:lnTo>
                  <a:pt x="4376147" y="765826"/>
                </a:lnTo>
                <a:lnTo>
                  <a:pt x="0" y="76582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2114881" y="4606892"/>
            <a:ext cx="3892543" cy="601575"/>
          </a:xfrm>
          <a:custGeom>
            <a:avLst/>
            <a:gdLst/>
            <a:ahLst/>
            <a:cxnLst/>
            <a:rect r="r" b="b" t="t" l="l"/>
            <a:pathLst>
              <a:path h="601575" w="3892543">
                <a:moveTo>
                  <a:pt x="0" y="0"/>
                </a:moveTo>
                <a:lnTo>
                  <a:pt x="3892543" y="0"/>
                </a:lnTo>
                <a:lnTo>
                  <a:pt x="3892543" y="601575"/>
                </a:lnTo>
                <a:lnTo>
                  <a:pt x="0" y="60157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  <a:ln w="28575" cap="rnd">
            <a:solidFill>
              <a:srgbClr val="026CCE"/>
            </a:solidFill>
            <a:prstDash val="solid"/>
            <a:round/>
          </a:ln>
        </p:spPr>
      </p:sp>
      <p:sp>
        <p:nvSpPr>
          <p:cNvPr name="TextBox 15" id="15"/>
          <p:cNvSpPr txBox="true"/>
          <p:nvPr/>
        </p:nvSpPr>
        <p:spPr>
          <a:xfrm rot="0">
            <a:off x="13121367" y="4543553"/>
            <a:ext cx="1932464" cy="5999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32"/>
              </a:lnSpc>
              <a:spcBef>
                <a:spcPct val="0"/>
              </a:spcBef>
            </a:pPr>
            <a:r>
              <a:rPr lang="en-US" sz="3380">
                <a:solidFill>
                  <a:srgbClr val="026CCE"/>
                </a:solidFill>
                <a:latin typeface="Tagamo3"/>
                <a:ea typeface="Tagamo3"/>
                <a:cs typeface="Tagamo3"/>
                <a:sym typeface="Tagamo3"/>
              </a:rPr>
              <a:t>Objective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588923" y="5826216"/>
            <a:ext cx="2714811" cy="440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8"/>
              </a:lnSpc>
            </a:pPr>
            <a:r>
              <a:rPr lang="en-US" sz="2548">
                <a:solidFill>
                  <a:srgbClr val="FFFFFF"/>
                </a:solidFill>
                <a:latin typeface="Tagamo3"/>
                <a:ea typeface="Tagamo3"/>
                <a:cs typeface="Tagamo3"/>
                <a:sym typeface="Tagamo3"/>
              </a:rPr>
              <a:t>Monitor ridership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10844903" y="5883366"/>
            <a:ext cx="431936" cy="372185"/>
          </a:xfrm>
          <a:custGeom>
            <a:avLst/>
            <a:gdLst/>
            <a:ahLst/>
            <a:cxnLst/>
            <a:rect r="r" b="b" t="t" l="l"/>
            <a:pathLst>
              <a:path h="372185" w="431936">
                <a:moveTo>
                  <a:pt x="0" y="0"/>
                </a:moveTo>
                <a:lnTo>
                  <a:pt x="431936" y="0"/>
                </a:lnTo>
                <a:lnTo>
                  <a:pt x="431936" y="372185"/>
                </a:lnTo>
                <a:lnTo>
                  <a:pt x="0" y="37218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0844903" y="8173346"/>
            <a:ext cx="431936" cy="372185"/>
          </a:xfrm>
          <a:custGeom>
            <a:avLst/>
            <a:gdLst/>
            <a:ahLst/>
            <a:cxnLst/>
            <a:rect r="r" b="b" t="t" l="l"/>
            <a:pathLst>
              <a:path h="372185" w="431936">
                <a:moveTo>
                  <a:pt x="0" y="0"/>
                </a:moveTo>
                <a:lnTo>
                  <a:pt x="431936" y="0"/>
                </a:lnTo>
                <a:lnTo>
                  <a:pt x="431936" y="372185"/>
                </a:lnTo>
                <a:lnTo>
                  <a:pt x="0" y="37218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0844903" y="7401821"/>
            <a:ext cx="431936" cy="372185"/>
          </a:xfrm>
          <a:custGeom>
            <a:avLst/>
            <a:gdLst/>
            <a:ahLst/>
            <a:cxnLst/>
            <a:rect r="r" b="b" t="t" l="l"/>
            <a:pathLst>
              <a:path h="372185" w="431936">
                <a:moveTo>
                  <a:pt x="0" y="0"/>
                </a:moveTo>
                <a:lnTo>
                  <a:pt x="431936" y="0"/>
                </a:lnTo>
                <a:lnTo>
                  <a:pt x="431936" y="372185"/>
                </a:lnTo>
                <a:lnTo>
                  <a:pt x="0" y="37218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0844903" y="6647356"/>
            <a:ext cx="431936" cy="372185"/>
          </a:xfrm>
          <a:custGeom>
            <a:avLst/>
            <a:gdLst/>
            <a:ahLst/>
            <a:cxnLst/>
            <a:rect r="r" b="b" t="t" l="l"/>
            <a:pathLst>
              <a:path h="372185" w="431936">
                <a:moveTo>
                  <a:pt x="0" y="0"/>
                </a:moveTo>
                <a:lnTo>
                  <a:pt x="431936" y="0"/>
                </a:lnTo>
                <a:lnTo>
                  <a:pt x="431936" y="372185"/>
                </a:lnTo>
                <a:lnTo>
                  <a:pt x="0" y="37218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11588923" y="6590206"/>
            <a:ext cx="2890474" cy="440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8"/>
              </a:lnSpc>
            </a:pPr>
            <a:r>
              <a:rPr lang="en-US" sz="2548">
                <a:solidFill>
                  <a:srgbClr val="FFFFFF"/>
                </a:solidFill>
                <a:latin typeface="Tagamo3"/>
                <a:ea typeface="Tagamo3"/>
                <a:cs typeface="Tagamo3"/>
                <a:sym typeface="Tagamo3"/>
              </a:rPr>
              <a:t>Measure recovery</a:t>
            </a:r>
          </a:p>
        </p:txBody>
      </p:sp>
      <p:sp>
        <p:nvSpPr>
          <p:cNvPr name="Freeform 22" id="22"/>
          <p:cNvSpPr/>
          <p:nvPr/>
        </p:nvSpPr>
        <p:spPr>
          <a:xfrm flipH="false" flipV="false" rot="0">
            <a:off x="10844903" y="8926531"/>
            <a:ext cx="431936" cy="372185"/>
          </a:xfrm>
          <a:custGeom>
            <a:avLst/>
            <a:gdLst/>
            <a:ahLst/>
            <a:cxnLst/>
            <a:rect r="r" b="b" t="t" l="l"/>
            <a:pathLst>
              <a:path h="372185" w="431936">
                <a:moveTo>
                  <a:pt x="0" y="0"/>
                </a:moveTo>
                <a:lnTo>
                  <a:pt x="431936" y="0"/>
                </a:lnTo>
                <a:lnTo>
                  <a:pt x="431936" y="372184"/>
                </a:lnTo>
                <a:lnTo>
                  <a:pt x="0" y="37218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11588923" y="7354146"/>
            <a:ext cx="4584204" cy="440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8"/>
              </a:lnSpc>
            </a:pPr>
            <a:r>
              <a:rPr lang="en-US" sz="2548">
                <a:solidFill>
                  <a:srgbClr val="FFFFFF"/>
                </a:solidFill>
                <a:latin typeface="Tagamo3"/>
                <a:ea typeface="Tagamo3"/>
                <a:cs typeface="Tagamo3"/>
                <a:sym typeface="Tagamo3"/>
              </a:rPr>
              <a:t>Analyze yearly performance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1588923" y="8118086"/>
            <a:ext cx="4829201" cy="440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8"/>
              </a:lnSpc>
            </a:pPr>
            <a:r>
              <a:rPr lang="en-US" sz="2548">
                <a:solidFill>
                  <a:srgbClr val="FFFFFF"/>
                </a:solidFill>
                <a:latin typeface="Tagamo3"/>
                <a:ea typeface="Tagamo3"/>
                <a:cs typeface="Tagamo3"/>
                <a:sym typeface="Tagamo3"/>
              </a:rPr>
              <a:t>Support operational decisions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1588923" y="8882026"/>
            <a:ext cx="4991661" cy="440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8"/>
              </a:lnSpc>
            </a:pPr>
            <a:r>
              <a:rPr lang="en-US" sz="2548">
                <a:solidFill>
                  <a:srgbClr val="FFFFFF"/>
                </a:solidFill>
                <a:latin typeface="Tagamo3"/>
                <a:ea typeface="Tagamo3"/>
                <a:cs typeface="Tagamo3"/>
                <a:sym typeface="Tagamo3"/>
              </a:rPr>
              <a:t>Compare transportation modes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7534311" y="2151066"/>
            <a:ext cx="10351509" cy="6247341"/>
            <a:chOff x="0" y="0"/>
            <a:chExt cx="8414870" cy="507854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414870" cy="5078540"/>
            </a:xfrm>
            <a:custGeom>
              <a:avLst/>
              <a:gdLst/>
              <a:ahLst/>
              <a:cxnLst/>
              <a:rect r="r" b="b" t="t" l="l"/>
              <a:pathLst>
                <a:path h="5078540" w="8414870">
                  <a:moveTo>
                    <a:pt x="0" y="4316759"/>
                  </a:moveTo>
                  <a:lnTo>
                    <a:pt x="0" y="761781"/>
                  </a:lnTo>
                  <a:cubicBezTo>
                    <a:pt x="0" y="340262"/>
                    <a:pt x="225519" y="0"/>
                    <a:pt x="504892" y="0"/>
                  </a:cubicBezTo>
                  <a:lnTo>
                    <a:pt x="7909978" y="0"/>
                  </a:lnTo>
                  <a:cubicBezTo>
                    <a:pt x="8189351" y="0"/>
                    <a:pt x="8414870" y="340262"/>
                    <a:pt x="8414870" y="761781"/>
                  </a:cubicBezTo>
                  <a:lnTo>
                    <a:pt x="8414870" y="4316759"/>
                  </a:lnTo>
                  <a:cubicBezTo>
                    <a:pt x="8414870" y="4738279"/>
                    <a:pt x="8189351" y="5078540"/>
                    <a:pt x="7909978" y="5078540"/>
                  </a:cubicBezTo>
                  <a:lnTo>
                    <a:pt x="504892" y="5078540"/>
                  </a:lnTo>
                  <a:cubicBezTo>
                    <a:pt x="225519" y="5078540"/>
                    <a:pt x="0" y="4738279"/>
                    <a:pt x="0" y="4316759"/>
                  </a:cubicBezTo>
                  <a:close/>
                </a:path>
              </a:pathLst>
            </a:custGeom>
            <a:blipFill>
              <a:blip r:embed="rId3"/>
              <a:stretch>
                <a:fillRect l="-4009" t="0" r="-4009" b="0"/>
              </a:stretch>
            </a:blipFill>
            <a:ln w="66675" cap="sq">
              <a:solidFill>
                <a:srgbClr val="87C2DB"/>
              </a:solidFill>
              <a:prstDash val="solid"/>
              <a:miter/>
            </a:ln>
          </p:spPr>
        </p:sp>
      </p:grpSp>
      <p:grpSp>
        <p:nvGrpSpPr>
          <p:cNvPr name="Group 5" id="5"/>
          <p:cNvGrpSpPr/>
          <p:nvPr/>
        </p:nvGrpSpPr>
        <p:grpSpPr>
          <a:xfrm rot="0">
            <a:off x="1028700" y="8980564"/>
            <a:ext cx="16230600" cy="1049622"/>
            <a:chOff x="0" y="0"/>
            <a:chExt cx="21640800" cy="1399496"/>
          </a:xfrm>
        </p:grpSpPr>
        <p:grpSp>
          <p:nvGrpSpPr>
            <p:cNvPr name="Group 6" id="6"/>
            <p:cNvGrpSpPr/>
            <p:nvPr/>
          </p:nvGrpSpPr>
          <p:grpSpPr>
            <a:xfrm rot="5400000">
              <a:off x="10120652" y="-10120652"/>
              <a:ext cx="1399496" cy="21640800"/>
              <a:chOff x="0" y="0"/>
              <a:chExt cx="276444" cy="4274726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276444" cy="4274726"/>
              </a:xfrm>
              <a:custGeom>
                <a:avLst/>
                <a:gdLst/>
                <a:ahLst/>
                <a:cxnLst/>
                <a:rect r="r" b="b" t="t" l="l"/>
                <a:pathLst>
                  <a:path h="4274726" w="276444">
                    <a:moveTo>
                      <a:pt x="138222" y="0"/>
                    </a:moveTo>
                    <a:lnTo>
                      <a:pt x="138222" y="0"/>
                    </a:lnTo>
                    <a:cubicBezTo>
                      <a:pt x="214560" y="0"/>
                      <a:pt x="276444" y="61884"/>
                      <a:pt x="276444" y="138222"/>
                    </a:cubicBezTo>
                    <a:lnTo>
                      <a:pt x="276444" y="4136504"/>
                    </a:lnTo>
                    <a:cubicBezTo>
                      <a:pt x="276444" y="4173163"/>
                      <a:pt x="261881" y="4208320"/>
                      <a:pt x="235959" y="4234242"/>
                    </a:cubicBezTo>
                    <a:cubicBezTo>
                      <a:pt x="210038" y="4260163"/>
                      <a:pt x="174881" y="4274726"/>
                      <a:pt x="138222" y="4274726"/>
                    </a:cubicBezTo>
                    <a:lnTo>
                      <a:pt x="138222" y="4274726"/>
                    </a:lnTo>
                    <a:cubicBezTo>
                      <a:pt x="101563" y="4274726"/>
                      <a:pt x="66406" y="4260163"/>
                      <a:pt x="40484" y="4234242"/>
                    </a:cubicBezTo>
                    <a:cubicBezTo>
                      <a:pt x="14563" y="4208320"/>
                      <a:pt x="0" y="4173163"/>
                      <a:pt x="0" y="4136504"/>
                    </a:cubicBezTo>
                    <a:lnTo>
                      <a:pt x="0" y="138222"/>
                    </a:lnTo>
                    <a:cubicBezTo>
                      <a:pt x="0" y="101563"/>
                      <a:pt x="14563" y="66406"/>
                      <a:pt x="40484" y="40484"/>
                    </a:cubicBezTo>
                    <a:cubicBezTo>
                      <a:pt x="66406" y="14563"/>
                      <a:pt x="101563" y="0"/>
                      <a:pt x="138222" y="0"/>
                    </a:cubicBezTo>
                    <a:close/>
                  </a:path>
                </a:pathLst>
              </a:custGeom>
              <a:solidFill>
                <a:srgbClr val="021134">
                  <a:alpha val="83922"/>
                </a:srgbClr>
              </a:solidFill>
              <a:ln w="19050" cap="rnd">
                <a:solidFill>
                  <a:srgbClr val="E2E3EA">
                    <a:alpha val="83922"/>
                  </a:srgbClr>
                </a:solidFill>
                <a:prstDash val="solid"/>
                <a:round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38100"/>
                <a:ext cx="276444" cy="431282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Freeform 9" id="9"/>
            <p:cNvSpPr/>
            <p:nvPr/>
          </p:nvSpPr>
          <p:spPr>
            <a:xfrm flipH="false" flipV="false" rot="5400000">
              <a:off x="10079450" y="-9709051"/>
              <a:ext cx="1399496" cy="20817597"/>
            </a:xfrm>
            <a:custGeom>
              <a:avLst/>
              <a:gdLst/>
              <a:ahLst/>
              <a:cxnLst/>
              <a:rect r="r" b="b" t="t" l="l"/>
              <a:pathLst>
                <a:path h="20817597" w="1399496">
                  <a:moveTo>
                    <a:pt x="0" y="0"/>
                  </a:moveTo>
                  <a:lnTo>
                    <a:pt x="1399496" y="0"/>
                  </a:lnTo>
                  <a:lnTo>
                    <a:pt x="1399496" y="20817598"/>
                  </a:lnTo>
                  <a:lnTo>
                    <a:pt x="0" y="208175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14000"/>
              </a:blip>
              <a:stretch>
                <a:fillRect l="-960507" t="-1617" r="-564838" b="0"/>
              </a:stretch>
            </a:blipFill>
            <a:ln cap="sq">
              <a:noFill/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523765" y="2151066"/>
            <a:ext cx="6436549" cy="6247341"/>
            <a:chOff x="0" y="0"/>
            <a:chExt cx="8582066" cy="8329788"/>
          </a:xfrm>
        </p:grpSpPr>
        <p:grpSp>
          <p:nvGrpSpPr>
            <p:cNvPr name="Group 11" id="11"/>
            <p:cNvGrpSpPr/>
            <p:nvPr/>
          </p:nvGrpSpPr>
          <p:grpSpPr>
            <a:xfrm rot="5400000">
              <a:off x="126139" y="-126139"/>
              <a:ext cx="8329788" cy="8582066"/>
              <a:chOff x="0" y="0"/>
              <a:chExt cx="1645390" cy="1695223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1645390" cy="1695223"/>
              </a:xfrm>
              <a:custGeom>
                <a:avLst/>
                <a:gdLst/>
                <a:ahLst/>
                <a:cxnLst/>
                <a:rect r="r" b="b" t="t" l="l"/>
                <a:pathLst>
                  <a:path h="1695223" w="1645390">
                    <a:moveTo>
                      <a:pt x="63201" y="0"/>
                    </a:moveTo>
                    <a:lnTo>
                      <a:pt x="1582189" y="0"/>
                    </a:lnTo>
                    <a:cubicBezTo>
                      <a:pt x="1617094" y="0"/>
                      <a:pt x="1645390" y="28296"/>
                      <a:pt x="1645390" y="63201"/>
                    </a:cubicBezTo>
                    <a:lnTo>
                      <a:pt x="1645390" y="1632022"/>
                    </a:lnTo>
                    <a:cubicBezTo>
                      <a:pt x="1645390" y="1648784"/>
                      <a:pt x="1638732" y="1664859"/>
                      <a:pt x="1626879" y="1676712"/>
                    </a:cubicBezTo>
                    <a:cubicBezTo>
                      <a:pt x="1615027" y="1688564"/>
                      <a:pt x="1598951" y="1695223"/>
                      <a:pt x="1582189" y="1695223"/>
                    </a:cubicBezTo>
                    <a:lnTo>
                      <a:pt x="63201" y="1695223"/>
                    </a:lnTo>
                    <a:cubicBezTo>
                      <a:pt x="28296" y="1695223"/>
                      <a:pt x="0" y="1666927"/>
                      <a:pt x="0" y="1632022"/>
                    </a:cubicBezTo>
                    <a:lnTo>
                      <a:pt x="0" y="63201"/>
                    </a:lnTo>
                    <a:cubicBezTo>
                      <a:pt x="0" y="28296"/>
                      <a:pt x="28296" y="0"/>
                      <a:pt x="63201" y="0"/>
                    </a:cubicBezTo>
                    <a:close/>
                  </a:path>
                </a:pathLst>
              </a:custGeom>
              <a:solidFill>
                <a:srgbClr val="021134">
                  <a:alpha val="83922"/>
                </a:srgbClr>
              </a:solidFill>
              <a:ln w="19050" cap="rnd">
                <a:solidFill>
                  <a:srgbClr val="E2E3EA">
                    <a:alpha val="83922"/>
                  </a:srgbClr>
                </a:solidFill>
                <a:prstDash val="solid"/>
                <a:round/>
              </a:ln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0" y="-38100"/>
                <a:ext cx="1645390" cy="173332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Freeform 14" id="14"/>
            <p:cNvSpPr/>
            <p:nvPr/>
          </p:nvSpPr>
          <p:spPr>
            <a:xfrm flipH="false" flipV="false" rot="5400000">
              <a:off x="109799" y="37089"/>
              <a:ext cx="8329788" cy="8255609"/>
            </a:xfrm>
            <a:custGeom>
              <a:avLst/>
              <a:gdLst/>
              <a:ahLst/>
              <a:cxnLst/>
              <a:rect r="r" b="b" t="t" l="l"/>
              <a:pathLst>
                <a:path h="8255609" w="8329788">
                  <a:moveTo>
                    <a:pt x="0" y="0"/>
                  </a:moveTo>
                  <a:lnTo>
                    <a:pt x="8329788" y="0"/>
                  </a:lnTo>
                  <a:lnTo>
                    <a:pt x="8329788" y="8255610"/>
                  </a:lnTo>
                  <a:lnTo>
                    <a:pt x="0" y="82556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14000"/>
              </a:blip>
              <a:stretch>
                <a:fillRect l="-32176" t="-13001" r="0" b="-11027"/>
              </a:stretch>
            </a:blipFill>
            <a:ln cap="sq">
              <a:noFill/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5400000">
            <a:off x="3291776" y="1251424"/>
            <a:ext cx="900528" cy="3859046"/>
            <a:chOff x="0" y="0"/>
            <a:chExt cx="237176" cy="1016374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37176" cy="1016374"/>
            </a:xfrm>
            <a:custGeom>
              <a:avLst/>
              <a:gdLst/>
              <a:ahLst/>
              <a:cxnLst/>
              <a:rect r="r" b="b" t="t" l="l"/>
              <a:pathLst>
                <a:path h="1016374" w="237176">
                  <a:moveTo>
                    <a:pt x="118588" y="0"/>
                  </a:moveTo>
                  <a:lnTo>
                    <a:pt x="118588" y="0"/>
                  </a:lnTo>
                  <a:cubicBezTo>
                    <a:pt x="184082" y="0"/>
                    <a:pt x="237176" y="53094"/>
                    <a:pt x="237176" y="118588"/>
                  </a:cubicBezTo>
                  <a:lnTo>
                    <a:pt x="237176" y="897786"/>
                  </a:lnTo>
                  <a:cubicBezTo>
                    <a:pt x="237176" y="963281"/>
                    <a:pt x="184082" y="1016374"/>
                    <a:pt x="118588" y="1016374"/>
                  </a:cubicBezTo>
                  <a:lnTo>
                    <a:pt x="118588" y="1016374"/>
                  </a:lnTo>
                  <a:cubicBezTo>
                    <a:pt x="53094" y="1016374"/>
                    <a:pt x="0" y="963281"/>
                    <a:pt x="0" y="897786"/>
                  </a:cubicBezTo>
                  <a:lnTo>
                    <a:pt x="0" y="118588"/>
                  </a:lnTo>
                  <a:cubicBezTo>
                    <a:pt x="0" y="53094"/>
                    <a:pt x="53094" y="0"/>
                    <a:pt x="118588" y="0"/>
                  </a:cubicBezTo>
                  <a:close/>
                </a:path>
              </a:pathLst>
            </a:custGeom>
            <a:solidFill>
              <a:srgbClr val="FFFFFF">
                <a:alpha val="87843"/>
              </a:srgbClr>
            </a:solidFill>
            <a:ln w="19050" cap="rnd">
              <a:solidFill>
                <a:srgbClr val="E2E3EA">
                  <a:alpha val="87843"/>
                </a:srgbClr>
              </a:solidFill>
              <a:prstDash val="solid"/>
              <a:round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237176" cy="10544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812732" y="4783228"/>
            <a:ext cx="431936" cy="372185"/>
          </a:xfrm>
          <a:custGeom>
            <a:avLst/>
            <a:gdLst/>
            <a:ahLst/>
            <a:cxnLst/>
            <a:rect r="r" b="b" t="t" l="l"/>
            <a:pathLst>
              <a:path h="372185" w="431936">
                <a:moveTo>
                  <a:pt x="0" y="0"/>
                </a:moveTo>
                <a:lnTo>
                  <a:pt x="431936" y="0"/>
                </a:lnTo>
                <a:lnTo>
                  <a:pt x="431936" y="372185"/>
                </a:lnTo>
                <a:lnTo>
                  <a:pt x="0" y="37218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812732" y="7073207"/>
            <a:ext cx="431936" cy="372185"/>
          </a:xfrm>
          <a:custGeom>
            <a:avLst/>
            <a:gdLst/>
            <a:ahLst/>
            <a:cxnLst/>
            <a:rect r="r" b="b" t="t" l="l"/>
            <a:pathLst>
              <a:path h="372185" w="431936">
                <a:moveTo>
                  <a:pt x="0" y="0"/>
                </a:moveTo>
                <a:lnTo>
                  <a:pt x="431936" y="0"/>
                </a:lnTo>
                <a:lnTo>
                  <a:pt x="431936" y="372185"/>
                </a:lnTo>
                <a:lnTo>
                  <a:pt x="0" y="37218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812732" y="6301682"/>
            <a:ext cx="431936" cy="372185"/>
          </a:xfrm>
          <a:custGeom>
            <a:avLst/>
            <a:gdLst/>
            <a:ahLst/>
            <a:cxnLst/>
            <a:rect r="r" b="b" t="t" l="l"/>
            <a:pathLst>
              <a:path h="372185" w="431936">
                <a:moveTo>
                  <a:pt x="0" y="0"/>
                </a:moveTo>
                <a:lnTo>
                  <a:pt x="431936" y="0"/>
                </a:lnTo>
                <a:lnTo>
                  <a:pt x="431936" y="372185"/>
                </a:lnTo>
                <a:lnTo>
                  <a:pt x="0" y="37218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812732" y="5547218"/>
            <a:ext cx="431936" cy="372185"/>
          </a:xfrm>
          <a:custGeom>
            <a:avLst/>
            <a:gdLst/>
            <a:ahLst/>
            <a:cxnLst/>
            <a:rect r="r" b="b" t="t" l="l"/>
            <a:pathLst>
              <a:path h="372185" w="431936">
                <a:moveTo>
                  <a:pt x="0" y="0"/>
                </a:moveTo>
                <a:lnTo>
                  <a:pt x="431936" y="0"/>
                </a:lnTo>
                <a:lnTo>
                  <a:pt x="431936" y="372184"/>
                </a:lnTo>
                <a:lnTo>
                  <a:pt x="0" y="37218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3371353" y="9231392"/>
            <a:ext cx="11432699" cy="5963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29"/>
              </a:lnSpc>
              <a:spcBef>
                <a:spcPct val="0"/>
              </a:spcBef>
            </a:pPr>
            <a:r>
              <a:rPr lang="en-US" b="true" sz="3521">
                <a:solidFill>
                  <a:srgbClr val="FFFFFF"/>
                </a:solidFill>
                <a:latin typeface="29LT Riwaya Bold"/>
                <a:ea typeface="29LT Riwaya Bold"/>
                <a:cs typeface="29LT Riwaya Bold"/>
                <a:sym typeface="29LT Riwaya Bold"/>
              </a:rPr>
              <a:t>Monitor and compare the recovery of Subways and Buses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2058972" y="2734909"/>
            <a:ext cx="3366135" cy="8963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97"/>
              </a:lnSpc>
              <a:spcBef>
                <a:spcPct val="0"/>
              </a:spcBef>
            </a:pPr>
            <a:r>
              <a:rPr lang="en-US" sz="5212">
                <a:solidFill>
                  <a:srgbClr val="1631A5"/>
                </a:solidFill>
                <a:latin typeface="MediaPro Heavy Condensed"/>
                <a:ea typeface="MediaPro Heavy Condensed"/>
                <a:cs typeface="MediaPro Heavy Condensed"/>
                <a:sym typeface="MediaPro Heavy Condensed"/>
              </a:rPr>
              <a:t>Key Features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510084" y="6910069"/>
            <a:ext cx="5469280" cy="1003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88"/>
              </a:lnSpc>
            </a:pPr>
            <a:r>
              <a:rPr lang="en-US" sz="2848">
                <a:solidFill>
                  <a:srgbClr val="FFFFFF"/>
                </a:solidFill>
                <a:latin typeface="Tagamo3"/>
                <a:ea typeface="Tagamo3"/>
                <a:cs typeface="Tagamo3"/>
                <a:sym typeface="Tagamo3"/>
              </a:rPr>
              <a:t>Weekday vs Weekend Analysis</a:t>
            </a:r>
          </a:p>
          <a:p>
            <a:pPr algn="l">
              <a:lnSpc>
                <a:spcPts val="3988"/>
              </a:lnSpc>
            </a:pPr>
          </a:p>
        </p:txBody>
      </p:sp>
      <p:sp>
        <p:nvSpPr>
          <p:cNvPr name="TextBox 25" id="25"/>
          <p:cNvSpPr txBox="true"/>
          <p:nvPr/>
        </p:nvSpPr>
        <p:spPr>
          <a:xfrm rot="0">
            <a:off x="1510084" y="4620090"/>
            <a:ext cx="2715590" cy="1003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88"/>
              </a:lnSpc>
            </a:pPr>
            <a:r>
              <a:rPr lang="en-US" sz="2848">
                <a:solidFill>
                  <a:srgbClr val="FFFFFF"/>
                </a:solidFill>
                <a:latin typeface="Tagamo3"/>
                <a:ea typeface="Tagamo3"/>
                <a:cs typeface="Tagamo3"/>
                <a:sym typeface="Tagamo3"/>
              </a:rPr>
              <a:t>Recovery KPIs</a:t>
            </a:r>
          </a:p>
          <a:p>
            <a:pPr algn="l">
              <a:lnSpc>
                <a:spcPts val="3988"/>
              </a:lnSpc>
            </a:pPr>
          </a:p>
        </p:txBody>
      </p:sp>
      <p:sp>
        <p:nvSpPr>
          <p:cNvPr name="TextBox 26" id="26"/>
          <p:cNvSpPr txBox="true"/>
          <p:nvPr/>
        </p:nvSpPr>
        <p:spPr>
          <a:xfrm rot="0">
            <a:off x="1510084" y="5384080"/>
            <a:ext cx="3152845" cy="1003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88"/>
              </a:lnSpc>
            </a:pPr>
            <a:r>
              <a:rPr lang="en-US" sz="2848">
                <a:solidFill>
                  <a:srgbClr val="FFFFFF"/>
                </a:solidFill>
                <a:latin typeface="Tagamo3"/>
                <a:ea typeface="Tagamo3"/>
                <a:cs typeface="Tagamo3"/>
                <a:sym typeface="Tagamo3"/>
              </a:rPr>
              <a:t>Interactive Filters</a:t>
            </a:r>
          </a:p>
          <a:p>
            <a:pPr algn="l">
              <a:lnSpc>
                <a:spcPts val="3988"/>
              </a:lnSpc>
            </a:pPr>
          </a:p>
        </p:txBody>
      </p:sp>
      <p:sp>
        <p:nvSpPr>
          <p:cNvPr name="TextBox 27" id="27"/>
          <p:cNvSpPr txBox="true"/>
          <p:nvPr/>
        </p:nvSpPr>
        <p:spPr>
          <a:xfrm rot="0">
            <a:off x="1510084" y="6174722"/>
            <a:ext cx="4763785" cy="499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88"/>
              </a:lnSpc>
            </a:pPr>
            <a:r>
              <a:rPr lang="en-US" sz="2848">
                <a:solidFill>
                  <a:srgbClr val="FFFFFF"/>
                </a:solidFill>
                <a:latin typeface="Tagamo3"/>
                <a:ea typeface="Tagamo3"/>
                <a:cs typeface="Tagamo3"/>
                <a:sym typeface="Tagamo3"/>
              </a:rPr>
              <a:t>Monthly Ridership Timeline</a:t>
            </a:r>
          </a:p>
        </p:txBody>
      </p:sp>
      <p:grpSp>
        <p:nvGrpSpPr>
          <p:cNvPr name="Group 28" id="28"/>
          <p:cNvGrpSpPr/>
          <p:nvPr/>
        </p:nvGrpSpPr>
        <p:grpSpPr>
          <a:xfrm rot="5400000">
            <a:off x="3727752" y="1601429"/>
            <a:ext cx="47625" cy="5115117"/>
            <a:chOff x="0" y="0"/>
            <a:chExt cx="12543" cy="1347191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2543" cy="1347191"/>
            </a:xfrm>
            <a:custGeom>
              <a:avLst/>
              <a:gdLst/>
              <a:ahLst/>
              <a:cxnLst/>
              <a:rect r="r" b="b" t="t" l="l"/>
              <a:pathLst>
                <a:path h="1347191" w="12543">
                  <a:moveTo>
                    <a:pt x="6272" y="0"/>
                  </a:moveTo>
                  <a:lnTo>
                    <a:pt x="6272" y="0"/>
                  </a:lnTo>
                  <a:cubicBezTo>
                    <a:pt x="7935" y="0"/>
                    <a:pt x="9530" y="661"/>
                    <a:pt x="10706" y="1837"/>
                  </a:cubicBezTo>
                  <a:cubicBezTo>
                    <a:pt x="11882" y="3013"/>
                    <a:pt x="12543" y="4608"/>
                    <a:pt x="12543" y="6272"/>
                  </a:cubicBezTo>
                  <a:lnTo>
                    <a:pt x="12543" y="1340920"/>
                  </a:lnTo>
                  <a:cubicBezTo>
                    <a:pt x="12543" y="1342583"/>
                    <a:pt x="11882" y="1344178"/>
                    <a:pt x="10706" y="1345354"/>
                  </a:cubicBezTo>
                  <a:cubicBezTo>
                    <a:pt x="9530" y="1346531"/>
                    <a:pt x="7935" y="1347191"/>
                    <a:pt x="6272" y="1347191"/>
                  </a:cubicBezTo>
                  <a:lnTo>
                    <a:pt x="6272" y="1347191"/>
                  </a:lnTo>
                  <a:cubicBezTo>
                    <a:pt x="4608" y="1347191"/>
                    <a:pt x="3013" y="1346531"/>
                    <a:pt x="1837" y="1345354"/>
                  </a:cubicBezTo>
                  <a:cubicBezTo>
                    <a:pt x="661" y="1344178"/>
                    <a:pt x="0" y="1342583"/>
                    <a:pt x="0" y="1340920"/>
                  </a:cubicBezTo>
                  <a:lnTo>
                    <a:pt x="0" y="6272"/>
                  </a:lnTo>
                  <a:cubicBezTo>
                    <a:pt x="0" y="4608"/>
                    <a:pt x="661" y="3013"/>
                    <a:pt x="1837" y="1837"/>
                  </a:cubicBezTo>
                  <a:cubicBezTo>
                    <a:pt x="3013" y="661"/>
                    <a:pt x="4608" y="0"/>
                    <a:pt x="6272" y="0"/>
                  </a:cubicBezTo>
                  <a:close/>
                </a:path>
              </a:pathLst>
            </a:custGeom>
            <a:solidFill>
              <a:srgbClr val="021134">
                <a:alpha val="83922"/>
              </a:srgbClr>
            </a:solidFill>
            <a:ln w="19050" cap="rnd">
              <a:solidFill>
                <a:srgbClr val="E2E3EA">
                  <a:alpha val="83922"/>
                </a:srgbClr>
              </a:solidFill>
              <a:prstDash val="solid"/>
              <a:round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12543" cy="13852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7534311" y="2151066"/>
            <a:ext cx="10351509" cy="6247341"/>
            <a:chOff x="0" y="0"/>
            <a:chExt cx="8414870" cy="507854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414870" cy="5078540"/>
            </a:xfrm>
            <a:custGeom>
              <a:avLst/>
              <a:gdLst/>
              <a:ahLst/>
              <a:cxnLst/>
              <a:rect r="r" b="b" t="t" l="l"/>
              <a:pathLst>
                <a:path h="5078540" w="8414870">
                  <a:moveTo>
                    <a:pt x="0" y="4316759"/>
                  </a:moveTo>
                  <a:lnTo>
                    <a:pt x="0" y="761781"/>
                  </a:lnTo>
                  <a:cubicBezTo>
                    <a:pt x="0" y="340262"/>
                    <a:pt x="225519" y="0"/>
                    <a:pt x="504892" y="0"/>
                  </a:cubicBezTo>
                  <a:lnTo>
                    <a:pt x="7909978" y="0"/>
                  </a:lnTo>
                  <a:cubicBezTo>
                    <a:pt x="8189351" y="0"/>
                    <a:pt x="8414870" y="340262"/>
                    <a:pt x="8414870" y="761781"/>
                  </a:cubicBezTo>
                  <a:lnTo>
                    <a:pt x="8414870" y="4316759"/>
                  </a:lnTo>
                  <a:cubicBezTo>
                    <a:pt x="8414870" y="4738279"/>
                    <a:pt x="8189351" y="5078540"/>
                    <a:pt x="7909978" y="5078540"/>
                  </a:cubicBezTo>
                  <a:lnTo>
                    <a:pt x="504892" y="5078540"/>
                  </a:lnTo>
                  <a:cubicBezTo>
                    <a:pt x="225519" y="5078540"/>
                    <a:pt x="0" y="4738279"/>
                    <a:pt x="0" y="4316759"/>
                  </a:cubicBezTo>
                  <a:close/>
                </a:path>
              </a:pathLst>
            </a:custGeom>
            <a:blipFill>
              <a:blip r:embed="rId3"/>
              <a:stretch>
                <a:fillRect l="-4253" t="0" r="-4253" b="0"/>
              </a:stretch>
            </a:blipFill>
            <a:ln w="66675" cap="sq">
              <a:solidFill>
                <a:srgbClr val="87C2DB"/>
              </a:solidFill>
              <a:prstDash val="solid"/>
              <a:miter/>
            </a:ln>
          </p:spPr>
        </p:sp>
      </p:grpSp>
      <p:grpSp>
        <p:nvGrpSpPr>
          <p:cNvPr name="Group 5" id="5"/>
          <p:cNvGrpSpPr/>
          <p:nvPr/>
        </p:nvGrpSpPr>
        <p:grpSpPr>
          <a:xfrm rot="0">
            <a:off x="1028700" y="8980564"/>
            <a:ext cx="16230600" cy="1049622"/>
            <a:chOff x="0" y="0"/>
            <a:chExt cx="21640800" cy="1399496"/>
          </a:xfrm>
        </p:grpSpPr>
        <p:grpSp>
          <p:nvGrpSpPr>
            <p:cNvPr name="Group 6" id="6"/>
            <p:cNvGrpSpPr/>
            <p:nvPr/>
          </p:nvGrpSpPr>
          <p:grpSpPr>
            <a:xfrm rot="5400000">
              <a:off x="10120652" y="-10120652"/>
              <a:ext cx="1399496" cy="21640800"/>
              <a:chOff x="0" y="0"/>
              <a:chExt cx="276444" cy="4274726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276444" cy="4274726"/>
              </a:xfrm>
              <a:custGeom>
                <a:avLst/>
                <a:gdLst/>
                <a:ahLst/>
                <a:cxnLst/>
                <a:rect r="r" b="b" t="t" l="l"/>
                <a:pathLst>
                  <a:path h="4274726" w="276444">
                    <a:moveTo>
                      <a:pt x="138222" y="0"/>
                    </a:moveTo>
                    <a:lnTo>
                      <a:pt x="138222" y="0"/>
                    </a:lnTo>
                    <a:cubicBezTo>
                      <a:pt x="214560" y="0"/>
                      <a:pt x="276444" y="61884"/>
                      <a:pt x="276444" y="138222"/>
                    </a:cubicBezTo>
                    <a:lnTo>
                      <a:pt x="276444" y="4136504"/>
                    </a:lnTo>
                    <a:cubicBezTo>
                      <a:pt x="276444" y="4173163"/>
                      <a:pt x="261881" y="4208320"/>
                      <a:pt x="235959" y="4234242"/>
                    </a:cubicBezTo>
                    <a:cubicBezTo>
                      <a:pt x="210038" y="4260163"/>
                      <a:pt x="174881" y="4274726"/>
                      <a:pt x="138222" y="4274726"/>
                    </a:cubicBezTo>
                    <a:lnTo>
                      <a:pt x="138222" y="4274726"/>
                    </a:lnTo>
                    <a:cubicBezTo>
                      <a:pt x="101563" y="4274726"/>
                      <a:pt x="66406" y="4260163"/>
                      <a:pt x="40484" y="4234242"/>
                    </a:cubicBezTo>
                    <a:cubicBezTo>
                      <a:pt x="14563" y="4208320"/>
                      <a:pt x="0" y="4173163"/>
                      <a:pt x="0" y="4136504"/>
                    </a:cubicBezTo>
                    <a:lnTo>
                      <a:pt x="0" y="138222"/>
                    </a:lnTo>
                    <a:cubicBezTo>
                      <a:pt x="0" y="101563"/>
                      <a:pt x="14563" y="66406"/>
                      <a:pt x="40484" y="40484"/>
                    </a:cubicBezTo>
                    <a:cubicBezTo>
                      <a:pt x="66406" y="14563"/>
                      <a:pt x="101563" y="0"/>
                      <a:pt x="138222" y="0"/>
                    </a:cubicBezTo>
                    <a:close/>
                  </a:path>
                </a:pathLst>
              </a:custGeom>
              <a:solidFill>
                <a:srgbClr val="021134">
                  <a:alpha val="83922"/>
                </a:srgbClr>
              </a:solidFill>
              <a:ln w="19050" cap="rnd">
                <a:solidFill>
                  <a:srgbClr val="E2E3EA">
                    <a:alpha val="83922"/>
                  </a:srgbClr>
                </a:solidFill>
                <a:prstDash val="solid"/>
                <a:round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38100"/>
                <a:ext cx="276444" cy="431282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Freeform 9" id="9"/>
            <p:cNvSpPr/>
            <p:nvPr/>
          </p:nvSpPr>
          <p:spPr>
            <a:xfrm flipH="false" flipV="false" rot="5400000">
              <a:off x="10079450" y="-9709051"/>
              <a:ext cx="1399496" cy="20817597"/>
            </a:xfrm>
            <a:custGeom>
              <a:avLst/>
              <a:gdLst/>
              <a:ahLst/>
              <a:cxnLst/>
              <a:rect r="r" b="b" t="t" l="l"/>
              <a:pathLst>
                <a:path h="20817597" w="1399496">
                  <a:moveTo>
                    <a:pt x="0" y="0"/>
                  </a:moveTo>
                  <a:lnTo>
                    <a:pt x="1399496" y="0"/>
                  </a:lnTo>
                  <a:lnTo>
                    <a:pt x="1399496" y="20817598"/>
                  </a:lnTo>
                  <a:lnTo>
                    <a:pt x="0" y="208175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14000"/>
              </a:blip>
              <a:stretch>
                <a:fillRect l="-960507" t="-1617" r="-564838" b="0"/>
              </a:stretch>
            </a:blipFill>
            <a:ln cap="sq">
              <a:noFill/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523765" y="2151066"/>
            <a:ext cx="6436549" cy="6247341"/>
            <a:chOff x="0" y="0"/>
            <a:chExt cx="8582066" cy="8329788"/>
          </a:xfrm>
        </p:grpSpPr>
        <p:grpSp>
          <p:nvGrpSpPr>
            <p:cNvPr name="Group 11" id="11"/>
            <p:cNvGrpSpPr/>
            <p:nvPr/>
          </p:nvGrpSpPr>
          <p:grpSpPr>
            <a:xfrm rot="5400000">
              <a:off x="126139" y="-126139"/>
              <a:ext cx="8329788" cy="8582066"/>
              <a:chOff x="0" y="0"/>
              <a:chExt cx="1645390" cy="1695223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1645390" cy="1695223"/>
              </a:xfrm>
              <a:custGeom>
                <a:avLst/>
                <a:gdLst/>
                <a:ahLst/>
                <a:cxnLst/>
                <a:rect r="r" b="b" t="t" l="l"/>
                <a:pathLst>
                  <a:path h="1695223" w="1645390">
                    <a:moveTo>
                      <a:pt x="63201" y="0"/>
                    </a:moveTo>
                    <a:lnTo>
                      <a:pt x="1582189" y="0"/>
                    </a:lnTo>
                    <a:cubicBezTo>
                      <a:pt x="1617094" y="0"/>
                      <a:pt x="1645390" y="28296"/>
                      <a:pt x="1645390" y="63201"/>
                    </a:cubicBezTo>
                    <a:lnTo>
                      <a:pt x="1645390" y="1632022"/>
                    </a:lnTo>
                    <a:cubicBezTo>
                      <a:pt x="1645390" y="1648784"/>
                      <a:pt x="1638732" y="1664859"/>
                      <a:pt x="1626879" y="1676712"/>
                    </a:cubicBezTo>
                    <a:cubicBezTo>
                      <a:pt x="1615027" y="1688564"/>
                      <a:pt x="1598951" y="1695223"/>
                      <a:pt x="1582189" y="1695223"/>
                    </a:cubicBezTo>
                    <a:lnTo>
                      <a:pt x="63201" y="1695223"/>
                    </a:lnTo>
                    <a:cubicBezTo>
                      <a:pt x="28296" y="1695223"/>
                      <a:pt x="0" y="1666927"/>
                      <a:pt x="0" y="1632022"/>
                    </a:cubicBezTo>
                    <a:lnTo>
                      <a:pt x="0" y="63201"/>
                    </a:lnTo>
                    <a:cubicBezTo>
                      <a:pt x="0" y="28296"/>
                      <a:pt x="28296" y="0"/>
                      <a:pt x="63201" y="0"/>
                    </a:cubicBezTo>
                    <a:close/>
                  </a:path>
                </a:pathLst>
              </a:custGeom>
              <a:solidFill>
                <a:srgbClr val="021134">
                  <a:alpha val="83922"/>
                </a:srgbClr>
              </a:solidFill>
              <a:ln w="19050" cap="rnd">
                <a:solidFill>
                  <a:srgbClr val="E2E3EA">
                    <a:alpha val="83922"/>
                  </a:srgbClr>
                </a:solidFill>
                <a:prstDash val="solid"/>
                <a:round/>
              </a:ln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0" y="-38100"/>
                <a:ext cx="1645390" cy="173332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Freeform 14" id="14"/>
            <p:cNvSpPr/>
            <p:nvPr/>
          </p:nvSpPr>
          <p:spPr>
            <a:xfrm flipH="false" flipV="false" rot="5400000">
              <a:off x="109799" y="37089"/>
              <a:ext cx="8329788" cy="8255609"/>
            </a:xfrm>
            <a:custGeom>
              <a:avLst/>
              <a:gdLst/>
              <a:ahLst/>
              <a:cxnLst/>
              <a:rect r="r" b="b" t="t" l="l"/>
              <a:pathLst>
                <a:path h="8255609" w="8329788">
                  <a:moveTo>
                    <a:pt x="0" y="0"/>
                  </a:moveTo>
                  <a:lnTo>
                    <a:pt x="8329788" y="0"/>
                  </a:lnTo>
                  <a:lnTo>
                    <a:pt x="8329788" y="8255610"/>
                  </a:lnTo>
                  <a:lnTo>
                    <a:pt x="0" y="82556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14000"/>
              </a:blip>
              <a:stretch>
                <a:fillRect l="-32176" t="-13001" r="0" b="-11027"/>
              </a:stretch>
            </a:blipFill>
            <a:ln cap="sq">
              <a:noFill/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5400000">
            <a:off x="3291776" y="1251424"/>
            <a:ext cx="900528" cy="3859046"/>
            <a:chOff x="0" y="0"/>
            <a:chExt cx="237176" cy="1016374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37176" cy="1016374"/>
            </a:xfrm>
            <a:custGeom>
              <a:avLst/>
              <a:gdLst/>
              <a:ahLst/>
              <a:cxnLst/>
              <a:rect r="r" b="b" t="t" l="l"/>
              <a:pathLst>
                <a:path h="1016374" w="237176">
                  <a:moveTo>
                    <a:pt x="118588" y="0"/>
                  </a:moveTo>
                  <a:lnTo>
                    <a:pt x="118588" y="0"/>
                  </a:lnTo>
                  <a:cubicBezTo>
                    <a:pt x="184082" y="0"/>
                    <a:pt x="237176" y="53094"/>
                    <a:pt x="237176" y="118588"/>
                  </a:cubicBezTo>
                  <a:lnTo>
                    <a:pt x="237176" y="897786"/>
                  </a:lnTo>
                  <a:cubicBezTo>
                    <a:pt x="237176" y="963281"/>
                    <a:pt x="184082" y="1016374"/>
                    <a:pt x="118588" y="1016374"/>
                  </a:cubicBezTo>
                  <a:lnTo>
                    <a:pt x="118588" y="1016374"/>
                  </a:lnTo>
                  <a:cubicBezTo>
                    <a:pt x="53094" y="1016374"/>
                    <a:pt x="0" y="963281"/>
                    <a:pt x="0" y="897786"/>
                  </a:cubicBezTo>
                  <a:lnTo>
                    <a:pt x="0" y="118588"/>
                  </a:lnTo>
                  <a:cubicBezTo>
                    <a:pt x="0" y="53094"/>
                    <a:pt x="53094" y="0"/>
                    <a:pt x="118588" y="0"/>
                  </a:cubicBezTo>
                  <a:close/>
                </a:path>
              </a:pathLst>
            </a:custGeom>
            <a:solidFill>
              <a:srgbClr val="FFFFFF">
                <a:alpha val="87843"/>
              </a:srgbClr>
            </a:solidFill>
            <a:ln w="19050" cap="rnd">
              <a:solidFill>
                <a:srgbClr val="E2E3EA">
                  <a:alpha val="87843"/>
                </a:srgbClr>
              </a:solidFill>
              <a:prstDash val="solid"/>
              <a:round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237176" cy="10544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812732" y="4783228"/>
            <a:ext cx="431936" cy="372185"/>
          </a:xfrm>
          <a:custGeom>
            <a:avLst/>
            <a:gdLst/>
            <a:ahLst/>
            <a:cxnLst/>
            <a:rect r="r" b="b" t="t" l="l"/>
            <a:pathLst>
              <a:path h="372185" w="431936">
                <a:moveTo>
                  <a:pt x="0" y="0"/>
                </a:moveTo>
                <a:lnTo>
                  <a:pt x="431936" y="0"/>
                </a:lnTo>
                <a:lnTo>
                  <a:pt x="431936" y="372185"/>
                </a:lnTo>
                <a:lnTo>
                  <a:pt x="0" y="37218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812732" y="7073207"/>
            <a:ext cx="431936" cy="372185"/>
          </a:xfrm>
          <a:custGeom>
            <a:avLst/>
            <a:gdLst/>
            <a:ahLst/>
            <a:cxnLst/>
            <a:rect r="r" b="b" t="t" l="l"/>
            <a:pathLst>
              <a:path h="372185" w="431936">
                <a:moveTo>
                  <a:pt x="0" y="0"/>
                </a:moveTo>
                <a:lnTo>
                  <a:pt x="431936" y="0"/>
                </a:lnTo>
                <a:lnTo>
                  <a:pt x="431936" y="372185"/>
                </a:lnTo>
                <a:lnTo>
                  <a:pt x="0" y="37218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812732" y="6301682"/>
            <a:ext cx="431936" cy="372185"/>
          </a:xfrm>
          <a:custGeom>
            <a:avLst/>
            <a:gdLst/>
            <a:ahLst/>
            <a:cxnLst/>
            <a:rect r="r" b="b" t="t" l="l"/>
            <a:pathLst>
              <a:path h="372185" w="431936">
                <a:moveTo>
                  <a:pt x="0" y="0"/>
                </a:moveTo>
                <a:lnTo>
                  <a:pt x="431936" y="0"/>
                </a:lnTo>
                <a:lnTo>
                  <a:pt x="431936" y="372185"/>
                </a:lnTo>
                <a:lnTo>
                  <a:pt x="0" y="37218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812732" y="5547218"/>
            <a:ext cx="431936" cy="372185"/>
          </a:xfrm>
          <a:custGeom>
            <a:avLst/>
            <a:gdLst/>
            <a:ahLst/>
            <a:cxnLst/>
            <a:rect r="r" b="b" t="t" l="l"/>
            <a:pathLst>
              <a:path h="372185" w="431936">
                <a:moveTo>
                  <a:pt x="0" y="0"/>
                </a:moveTo>
                <a:lnTo>
                  <a:pt x="431936" y="0"/>
                </a:lnTo>
                <a:lnTo>
                  <a:pt x="431936" y="372184"/>
                </a:lnTo>
                <a:lnTo>
                  <a:pt x="0" y="37218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2" id="22"/>
          <p:cNvGrpSpPr/>
          <p:nvPr/>
        </p:nvGrpSpPr>
        <p:grpSpPr>
          <a:xfrm rot="5400000">
            <a:off x="3727752" y="1601429"/>
            <a:ext cx="47625" cy="5115117"/>
            <a:chOff x="0" y="0"/>
            <a:chExt cx="12543" cy="1347191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2543" cy="1347191"/>
            </a:xfrm>
            <a:custGeom>
              <a:avLst/>
              <a:gdLst/>
              <a:ahLst/>
              <a:cxnLst/>
              <a:rect r="r" b="b" t="t" l="l"/>
              <a:pathLst>
                <a:path h="1347191" w="12543">
                  <a:moveTo>
                    <a:pt x="6272" y="0"/>
                  </a:moveTo>
                  <a:lnTo>
                    <a:pt x="6272" y="0"/>
                  </a:lnTo>
                  <a:cubicBezTo>
                    <a:pt x="7935" y="0"/>
                    <a:pt x="9530" y="661"/>
                    <a:pt x="10706" y="1837"/>
                  </a:cubicBezTo>
                  <a:cubicBezTo>
                    <a:pt x="11882" y="3013"/>
                    <a:pt x="12543" y="4608"/>
                    <a:pt x="12543" y="6272"/>
                  </a:cubicBezTo>
                  <a:lnTo>
                    <a:pt x="12543" y="1340920"/>
                  </a:lnTo>
                  <a:cubicBezTo>
                    <a:pt x="12543" y="1342583"/>
                    <a:pt x="11882" y="1344178"/>
                    <a:pt x="10706" y="1345354"/>
                  </a:cubicBezTo>
                  <a:cubicBezTo>
                    <a:pt x="9530" y="1346531"/>
                    <a:pt x="7935" y="1347191"/>
                    <a:pt x="6272" y="1347191"/>
                  </a:cubicBezTo>
                  <a:lnTo>
                    <a:pt x="6272" y="1347191"/>
                  </a:lnTo>
                  <a:cubicBezTo>
                    <a:pt x="4608" y="1347191"/>
                    <a:pt x="3013" y="1346531"/>
                    <a:pt x="1837" y="1345354"/>
                  </a:cubicBezTo>
                  <a:cubicBezTo>
                    <a:pt x="661" y="1344178"/>
                    <a:pt x="0" y="1342583"/>
                    <a:pt x="0" y="1340920"/>
                  </a:cubicBezTo>
                  <a:lnTo>
                    <a:pt x="0" y="6272"/>
                  </a:lnTo>
                  <a:cubicBezTo>
                    <a:pt x="0" y="4608"/>
                    <a:pt x="661" y="3013"/>
                    <a:pt x="1837" y="1837"/>
                  </a:cubicBezTo>
                  <a:cubicBezTo>
                    <a:pt x="3013" y="661"/>
                    <a:pt x="4608" y="0"/>
                    <a:pt x="6272" y="0"/>
                  </a:cubicBezTo>
                  <a:close/>
                </a:path>
              </a:pathLst>
            </a:custGeom>
            <a:solidFill>
              <a:srgbClr val="021134">
                <a:alpha val="83922"/>
              </a:srgbClr>
            </a:solidFill>
            <a:ln w="19050" cap="rnd">
              <a:solidFill>
                <a:srgbClr val="E2E3EA">
                  <a:alpha val="83922"/>
                </a:srgbClr>
              </a:solidFill>
              <a:prstDash val="solid"/>
              <a:round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12543" cy="13852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2025074" y="9231392"/>
            <a:ext cx="14125258" cy="5963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29"/>
              </a:lnSpc>
              <a:spcBef>
                <a:spcPct val="0"/>
              </a:spcBef>
            </a:pPr>
            <a:r>
              <a:rPr lang="en-US" b="true" sz="3521">
                <a:solidFill>
                  <a:srgbClr val="FFFFFF"/>
                </a:solidFill>
                <a:latin typeface="29LT Riwaya Bold"/>
                <a:ea typeface="29LT Riwaya Bold"/>
                <a:cs typeface="29LT Riwaya Bold"/>
                <a:sym typeface="29LT Riwaya Bold"/>
              </a:rPr>
              <a:t>A</a:t>
            </a:r>
            <a:r>
              <a:rPr lang="en-US" b="true" sz="3521">
                <a:solidFill>
                  <a:srgbClr val="FFFFFF"/>
                </a:solidFill>
                <a:latin typeface="29LT Riwaya Bold"/>
                <a:ea typeface="29LT Riwaya Bold"/>
                <a:cs typeface="29LT Riwaya Bold"/>
                <a:sym typeface="29LT Riwaya Bold"/>
              </a:rPr>
              <a:t>nalyze the recovery of LIRR, Metro-North, and Staten Island Railway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2058972" y="2734909"/>
            <a:ext cx="3366135" cy="8963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97"/>
              </a:lnSpc>
              <a:spcBef>
                <a:spcPct val="0"/>
              </a:spcBef>
            </a:pPr>
            <a:r>
              <a:rPr lang="en-US" sz="5212">
                <a:solidFill>
                  <a:srgbClr val="1631A5"/>
                </a:solidFill>
                <a:latin typeface="MediaPro Heavy Condensed"/>
                <a:ea typeface="MediaPro Heavy Condensed"/>
                <a:cs typeface="MediaPro Heavy Condensed"/>
                <a:sym typeface="MediaPro Heavy Condensed"/>
              </a:rPr>
              <a:t>Key Features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510084" y="6910069"/>
            <a:ext cx="5469280" cy="1003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88"/>
              </a:lnSpc>
            </a:pPr>
            <a:r>
              <a:rPr lang="en-US" sz="2848">
                <a:solidFill>
                  <a:srgbClr val="FFFFFF"/>
                </a:solidFill>
                <a:latin typeface="Tagamo3"/>
                <a:ea typeface="Tagamo3"/>
                <a:cs typeface="Tagamo3"/>
                <a:sym typeface="Tagamo3"/>
              </a:rPr>
              <a:t>Weekday vs Weekend Analysis</a:t>
            </a:r>
          </a:p>
          <a:p>
            <a:pPr algn="l">
              <a:lnSpc>
                <a:spcPts val="3988"/>
              </a:lnSpc>
            </a:pPr>
          </a:p>
        </p:txBody>
      </p:sp>
      <p:sp>
        <p:nvSpPr>
          <p:cNvPr name="TextBox 28" id="28"/>
          <p:cNvSpPr txBox="true"/>
          <p:nvPr/>
        </p:nvSpPr>
        <p:spPr>
          <a:xfrm rot="0">
            <a:off x="1510084" y="4620090"/>
            <a:ext cx="2715590" cy="1003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88"/>
              </a:lnSpc>
            </a:pPr>
            <a:r>
              <a:rPr lang="en-US" sz="2848">
                <a:solidFill>
                  <a:srgbClr val="FFFFFF"/>
                </a:solidFill>
                <a:latin typeface="Tagamo3"/>
                <a:ea typeface="Tagamo3"/>
                <a:cs typeface="Tagamo3"/>
                <a:sym typeface="Tagamo3"/>
              </a:rPr>
              <a:t>Recovery KPIs</a:t>
            </a:r>
          </a:p>
          <a:p>
            <a:pPr algn="l">
              <a:lnSpc>
                <a:spcPts val="3988"/>
              </a:lnSpc>
            </a:pPr>
          </a:p>
        </p:txBody>
      </p:sp>
      <p:sp>
        <p:nvSpPr>
          <p:cNvPr name="TextBox 29" id="29"/>
          <p:cNvSpPr txBox="true"/>
          <p:nvPr/>
        </p:nvSpPr>
        <p:spPr>
          <a:xfrm rot="0">
            <a:off x="1510084" y="5384080"/>
            <a:ext cx="3152845" cy="1003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88"/>
              </a:lnSpc>
            </a:pPr>
            <a:r>
              <a:rPr lang="en-US" sz="2848">
                <a:solidFill>
                  <a:srgbClr val="FFFFFF"/>
                </a:solidFill>
                <a:latin typeface="Tagamo3"/>
                <a:ea typeface="Tagamo3"/>
                <a:cs typeface="Tagamo3"/>
                <a:sym typeface="Tagamo3"/>
              </a:rPr>
              <a:t>Interactive Filters</a:t>
            </a:r>
          </a:p>
          <a:p>
            <a:pPr algn="l">
              <a:lnSpc>
                <a:spcPts val="3988"/>
              </a:lnSpc>
            </a:pPr>
          </a:p>
        </p:txBody>
      </p:sp>
      <p:sp>
        <p:nvSpPr>
          <p:cNvPr name="TextBox 30" id="30"/>
          <p:cNvSpPr txBox="true"/>
          <p:nvPr/>
        </p:nvSpPr>
        <p:spPr>
          <a:xfrm rot="0">
            <a:off x="1510084" y="6174722"/>
            <a:ext cx="4763785" cy="499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88"/>
              </a:lnSpc>
            </a:pPr>
            <a:r>
              <a:rPr lang="en-US" sz="2848">
                <a:solidFill>
                  <a:srgbClr val="FFFFFF"/>
                </a:solidFill>
                <a:latin typeface="Tagamo3"/>
                <a:ea typeface="Tagamo3"/>
                <a:cs typeface="Tagamo3"/>
                <a:sym typeface="Tagamo3"/>
              </a:rPr>
              <a:t>Monthly Ridership Timeline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7534311" y="2151066"/>
            <a:ext cx="10351509" cy="6247341"/>
            <a:chOff x="0" y="0"/>
            <a:chExt cx="8414870" cy="507854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414870" cy="5078540"/>
            </a:xfrm>
            <a:custGeom>
              <a:avLst/>
              <a:gdLst/>
              <a:ahLst/>
              <a:cxnLst/>
              <a:rect r="r" b="b" t="t" l="l"/>
              <a:pathLst>
                <a:path h="5078540" w="8414870">
                  <a:moveTo>
                    <a:pt x="0" y="4316759"/>
                  </a:moveTo>
                  <a:lnTo>
                    <a:pt x="0" y="761781"/>
                  </a:lnTo>
                  <a:cubicBezTo>
                    <a:pt x="0" y="340262"/>
                    <a:pt x="225519" y="0"/>
                    <a:pt x="504892" y="0"/>
                  </a:cubicBezTo>
                  <a:lnTo>
                    <a:pt x="7909978" y="0"/>
                  </a:lnTo>
                  <a:cubicBezTo>
                    <a:pt x="8189351" y="0"/>
                    <a:pt x="8414870" y="340262"/>
                    <a:pt x="8414870" y="761781"/>
                  </a:cubicBezTo>
                  <a:lnTo>
                    <a:pt x="8414870" y="4316759"/>
                  </a:lnTo>
                  <a:cubicBezTo>
                    <a:pt x="8414870" y="4738279"/>
                    <a:pt x="8189351" y="5078540"/>
                    <a:pt x="7909978" y="5078540"/>
                  </a:cubicBezTo>
                  <a:lnTo>
                    <a:pt x="504892" y="5078540"/>
                  </a:lnTo>
                  <a:cubicBezTo>
                    <a:pt x="225519" y="5078540"/>
                    <a:pt x="0" y="4738279"/>
                    <a:pt x="0" y="4316759"/>
                  </a:cubicBezTo>
                  <a:close/>
                </a:path>
              </a:pathLst>
            </a:custGeom>
            <a:blipFill>
              <a:blip r:embed="rId3"/>
              <a:stretch>
                <a:fillRect l="-4524" t="0" r="-4524" b="0"/>
              </a:stretch>
            </a:blipFill>
            <a:ln w="66675" cap="sq">
              <a:solidFill>
                <a:srgbClr val="87C2DB"/>
              </a:solidFill>
              <a:prstDash val="solid"/>
              <a:miter/>
            </a:ln>
          </p:spPr>
        </p:sp>
      </p:grpSp>
      <p:grpSp>
        <p:nvGrpSpPr>
          <p:cNvPr name="Group 5" id="5"/>
          <p:cNvGrpSpPr/>
          <p:nvPr/>
        </p:nvGrpSpPr>
        <p:grpSpPr>
          <a:xfrm rot="0">
            <a:off x="1028700" y="8980564"/>
            <a:ext cx="16230600" cy="1049622"/>
            <a:chOff x="0" y="0"/>
            <a:chExt cx="21640800" cy="1399496"/>
          </a:xfrm>
        </p:grpSpPr>
        <p:grpSp>
          <p:nvGrpSpPr>
            <p:cNvPr name="Group 6" id="6"/>
            <p:cNvGrpSpPr/>
            <p:nvPr/>
          </p:nvGrpSpPr>
          <p:grpSpPr>
            <a:xfrm rot="5400000">
              <a:off x="10120652" y="-10120652"/>
              <a:ext cx="1399496" cy="21640800"/>
              <a:chOff x="0" y="0"/>
              <a:chExt cx="276444" cy="4274726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276444" cy="4274726"/>
              </a:xfrm>
              <a:custGeom>
                <a:avLst/>
                <a:gdLst/>
                <a:ahLst/>
                <a:cxnLst/>
                <a:rect r="r" b="b" t="t" l="l"/>
                <a:pathLst>
                  <a:path h="4274726" w="276444">
                    <a:moveTo>
                      <a:pt x="138222" y="0"/>
                    </a:moveTo>
                    <a:lnTo>
                      <a:pt x="138222" y="0"/>
                    </a:lnTo>
                    <a:cubicBezTo>
                      <a:pt x="214560" y="0"/>
                      <a:pt x="276444" y="61884"/>
                      <a:pt x="276444" y="138222"/>
                    </a:cubicBezTo>
                    <a:lnTo>
                      <a:pt x="276444" y="4136504"/>
                    </a:lnTo>
                    <a:cubicBezTo>
                      <a:pt x="276444" y="4173163"/>
                      <a:pt x="261881" y="4208320"/>
                      <a:pt x="235959" y="4234242"/>
                    </a:cubicBezTo>
                    <a:cubicBezTo>
                      <a:pt x="210038" y="4260163"/>
                      <a:pt x="174881" y="4274726"/>
                      <a:pt x="138222" y="4274726"/>
                    </a:cubicBezTo>
                    <a:lnTo>
                      <a:pt x="138222" y="4274726"/>
                    </a:lnTo>
                    <a:cubicBezTo>
                      <a:pt x="101563" y="4274726"/>
                      <a:pt x="66406" y="4260163"/>
                      <a:pt x="40484" y="4234242"/>
                    </a:cubicBezTo>
                    <a:cubicBezTo>
                      <a:pt x="14563" y="4208320"/>
                      <a:pt x="0" y="4173163"/>
                      <a:pt x="0" y="4136504"/>
                    </a:cubicBezTo>
                    <a:lnTo>
                      <a:pt x="0" y="138222"/>
                    </a:lnTo>
                    <a:cubicBezTo>
                      <a:pt x="0" y="101563"/>
                      <a:pt x="14563" y="66406"/>
                      <a:pt x="40484" y="40484"/>
                    </a:cubicBezTo>
                    <a:cubicBezTo>
                      <a:pt x="66406" y="14563"/>
                      <a:pt x="101563" y="0"/>
                      <a:pt x="138222" y="0"/>
                    </a:cubicBezTo>
                    <a:close/>
                  </a:path>
                </a:pathLst>
              </a:custGeom>
              <a:solidFill>
                <a:srgbClr val="021134">
                  <a:alpha val="83922"/>
                </a:srgbClr>
              </a:solidFill>
              <a:ln w="19050" cap="rnd">
                <a:solidFill>
                  <a:srgbClr val="E2E3EA">
                    <a:alpha val="83922"/>
                  </a:srgbClr>
                </a:solidFill>
                <a:prstDash val="solid"/>
                <a:round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38100"/>
                <a:ext cx="276444" cy="431282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Freeform 9" id="9"/>
            <p:cNvSpPr/>
            <p:nvPr/>
          </p:nvSpPr>
          <p:spPr>
            <a:xfrm flipH="false" flipV="false" rot="5400000">
              <a:off x="10079450" y="-9709051"/>
              <a:ext cx="1399496" cy="20817597"/>
            </a:xfrm>
            <a:custGeom>
              <a:avLst/>
              <a:gdLst/>
              <a:ahLst/>
              <a:cxnLst/>
              <a:rect r="r" b="b" t="t" l="l"/>
              <a:pathLst>
                <a:path h="20817597" w="1399496">
                  <a:moveTo>
                    <a:pt x="0" y="0"/>
                  </a:moveTo>
                  <a:lnTo>
                    <a:pt x="1399496" y="0"/>
                  </a:lnTo>
                  <a:lnTo>
                    <a:pt x="1399496" y="20817598"/>
                  </a:lnTo>
                  <a:lnTo>
                    <a:pt x="0" y="208175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14000"/>
              </a:blip>
              <a:stretch>
                <a:fillRect l="-960507" t="-1617" r="-564838" b="0"/>
              </a:stretch>
            </a:blipFill>
            <a:ln cap="sq">
              <a:noFill/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523765" y="2151066"/>
            <a:ext cx="6436549" cy="6247341"/>
            <a:chOff x="0" y="0"/>
            <a:chExt cx="8582066" cy="8329788"/>
          </a:xfrm>
        </p:grpSpPr>
        <p:grpSp>
          <p:nvGrpSpPr>
            <p:cNvPr name="Group 11" id="11"/>
            <p:cNvGrpSpPr/>
            <p:nvPr/>
          </p:nvGrpSpPr>
          <p:grpSpPr>
            <a:xfrm rot="5400000">
              <a:off x="126139" y="-126139"/>
              <a:ext cx="8329788" cy="8582066"/>
              <a:chOff x="0" y="0"/>
              <a:chExt cx="1645390" cy="1695223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1645390" cy="1695223"/>
              </a:xfrm>
              <a:custGeom>
                <a:avLst/>
                <a:gdLst/>
                <a:ahLst/>
                <a:cxnLst/>
                <a:rect r="r" b="b" t="t" l="l"/>
                <a:pathLst>
                  <a:path h="1695223" w="1645390">
                    <a:moveTo>
                      <a:pt x="63201" y="0"/>
                    </a:moveTo>
                    <a:lnTo>
                      <a:pt x="1582189" y="0"/>
                    </a:lnTo>
                    <a:cubicBezTo>
                      <a:pt x="1617094" y="0"/>
                      <a:pt x="1645390" y="28296"/>
                      <a:pt x="1645390" y="63201"/>
                    </a:cubicBezTo>
                    <a:lnTo>
                      <a:pt x="1645390" y="1632022"/>
                    </a:lnTo>
                    <a:cubicBezTo>
                      <a:pt x="1645390" y="1648784"/>
                      <a:pt x="1638732" y="1664859"/>
                      <a:pt x="1626879" y="1676712"/>
                    </a:cubicBezTo>
                    <a:cubicBezTo>
                      <a:pt x="1615027" y="1688564"/>
                      <a:pt x="1598951" y="1695223"/>
                      <a:pt x="1582189" y="1695223"/>
                    </a:cubicBezTo>
                    <a:lnTo>
                      <a:pt x="63201" y="1695223"/>
                    </a:lnTo>
                    <a:cubicBezTo>
                      <a:pt x="28296" y="1695223"/>
                      <a:pt x="0" y="1666927"/>
                      <a:pt x="0" y="1632022"/>
                    </a:cubicBezTo>
                    <a:lnTo>
                      <a:pt x="0" y="63201"/>
                    </a:lnTo>
                    <a:cubicBezTo>
                      <a:pt x="0" y="28296"/>
                      <a:pt x="28296" y="0"/>
                      <a:pt x="63201" y="0"/>
                    </a:cubicBezTo>
                    <a:close/>
                  </a:path>
                </a:pathLst>
              </a:custGeom>
              <a:solidFill>
                <a:srgbClr val="021134">
                  <a:alpha val="83922"/>
                </a:srgbClr>
              </a:solidFill>
              <a:ln w="19050" cap="rnd">
                <a:solidFill>
                  <a:srgbClr val="E2E3EA">
                    <a:alpha val="83922"/>
                  </a:srgbClr>
                </a:solidFill>
                <a:prstDash val="solid"/>
                <a:round/>
              </a:ln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0" y="-38100"/>
                <a:ext cx="1645390" cy="173332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Freeform 14" id="14"/>
            <p:cNvSpPr/>
            <p:nvPr/>
          </p:nvSpPr>
          <p:spPr>
            <a:xfrm flipH="false" flipV="false" rot="5400000">
              <a:off x="109799" y="37089"/>
              <a:ext cx="8329788" cy="8255609"/>
            </a:xfrm>
            <a:custGeom>
              <a:avLst/>
              <a:gdLst/>
              <a:ahLst/>
              <a:cxnLst/>
              <a:rect r="r" b="b" t="t" l="l"/>
              <a:pathLst>
                <a:path h="8255609" w="8329788">
                  <a:moveTo>
                    <a:pt x="0" y="0"/>
                  </a:moveTo>
                  <a:lnTo>
                    <a:pt x="8329788" y="0"/>
                  </a:lnTo>
                  <a:lnTo>
                    <a:pt x="8329788" y="8255610"/>
                  </a:lnTo>
                  <a:lnTo>
                    <a:pt x="0" y="82556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14000"/>
              </a:blip>
              <a:stretch>
                <a:fillRect l="-32176" t="-13001" r="0" b="-11027"/>
              </a:stretch>
            </a:blipFill>
            <a:ln cap="sq">
              <a:noFill/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5400000">
            <a:off x="3291776" y="1251424"/>
            <a:ext cx="900528" cy="3859046"/>
            <a:chOff x="0" y="0"/>
            <a:chExt cx="237176" cy="1016374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37176" cy="1016374"/>
            </a:xfrm>
            <a:custGeom>
              <a:avLst/>
              <a:gdLst/>
              <a:ahLst/>
              <a:cxnLst/>
              <a:rect r="r" b="b" t="t" l="l"/>
              <a:pathLst>
                <a:path h="1016374" w="237176">
                  <a:moveTo>
                    <a:pt x="118588" y="0"/>
                  </a:moveTo>
                  <a:lnTo>
                    <a:pt x="118588" y="0"/>
                  </a:lnTo>
                  <a:cubicBezTo>
                    <a:pt x="184082" y="0"/>
                    <a:pt x="237176" y="53094"/>
                    <a:pt x="237176" y="118588"/>
                  </a:cubicBezTo>
                  <a:lnTo>
                    <a:pt x="237176" y="897786"/>
                  </a:lnTo>
                  <a:cubicBezTo>
                    <a:pt x="237176" y="963281"/>
                    <a:pt x="184082" y="1016374"/>
                    <a:pt x="118588" y="1016374"/>
                  </a:cubicBezTo>
                  <a:lnTo>
                    <a:pt x="118588" y="1016374"/>
                  </a:lnTo>
                  <a:cubicBezTo>
                    <a:pt x="53094" y="1016374"/>
                    <a:pt x="0" y="963281"/>
                    <a:pt x="0" y="897786"/>
                  </a:cubicBezTo>
                  <a:lnTo>
                    <a:pt x="0" y="118588"/>
                  </a:lnTo>
                  <a:cubicBezTo>
                    <a:pt x="0" y="53094"/>
                    <a:pt x="53094" y="0"/>
                    <a:pt x="118588" y="0"/>
                  </a:cubicBezTo>
                  <a:close/>
                </a:path>
              </a:pathLst>
            </a:custGeom>
            <a:solidFill>
              <a:srgbClr val="FFFFFF">
                <a:alpha val="87843"/>
              </a:srgbClr>
            </a:solidFill>
            <a:ln w="19050" cap="rnd">
              <a:solidFill>
                <a:srgbClr val="E2E3EA">
                  <a:alpha val="87843"/>
                </a:srgbClr>
              </a:solidFill>
              <a:prstDash val="solid"/>
              <a:round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237176" cy="10544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812732" y="4783228"/>
            <a:ext cx="431936" cy="372185"/>
          </a:xfrm>
          <a:custGeom>
            <a:avLst/>
            <a:gdLst/>
            <a:ahLst/>
            <a:cxnLst/>
            <a:rect r="r" b="b" t="t" l="l"/>
            <a:pathLst>
              <a:path h="372185" w="431936">
                <a:moveTo>
                  <a:pt x="0" y="0"/>
                </a:moveTo>
                <a:lnTo>
                  <a:pt x="431936" y="0"/>
                </a:lnTo>
                <a:lnTo>
                  <a:pt x="431936" y="372185"/>
                </a:lnTo>
                <a:lnTo>
                  <a:pt x="0" y="37218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812732" y="7073207"/>
            <a:ext cx="431936" cy="372185"/>
          </a:xfrm>
          <a:custGeom>
            <a:avLst/>
            <a:gdLst/>
            <a:ahLst/>
            <a:cxnLst/>
            <a:rect r="r" b="b" t="t" l="l"/>
            <a:pathLst>
              <a:path h="372185" w="431936">
                <a:moveTo>
                  <a:pt x="0" y="0"/>
                </a:moveTo>
                <a:lnTo>
                  <a:pt x="431936" y="0"/>
                </a:lnTo>
                <a:lnTo>
                  <a:pt x="431936" y="372185"/>
                </a:lnTo>
                <a:lnTo>
                  <a:pt x="0" y="37218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812732" y="6301682"/>
            <a:ext cx="431936" cy="372185"/>
          </a:xfrm>
          <a:custGeom>
            <a:avLst/>
            <a:gdLst/>
            <a:ahLst/>
            <a:cxnLst/>
            <a:rect r="r" b="b" t="t" l="l"/>
            <a:pathLst>
              <a:path h="372185" w="431936">
                <a:moveTo>
                  <a:pt x="0" y="0"/>
                </a:moveTo>
                <a:lnTo>
                  <a:pt x="431936" y="0"/>
                </a:lnTo>
                <a:lnTo>
                  <a:pt x="431936" y="372185"/>
                </a:lnTo>
                <a:lnTo>
                  <a:pt x="0" y="37218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812732" y="5547218"/>
            <a:ext cx="431936" cy="372185"/>
          </a:xfrm>
          <a:custGeom>
            <a:avLst/>
            <a:gdLst/>
            <a:ahLst/>
            <a:cxnLst/>
            <a:rect r="r" b="b" t="t" l="l"/>
            <a:pathLst>
              <a:path h="372185" w="431936">
                <a:moveTo>
                  <a:pt x="0" y="0"/>
                </a:moveTo>
                <a:lnTo>
                  <a:pt x="431936" y="0"/>
                </a:lnTo>
                <a:lnTo>
                  <a:pt x="431936" y="372184"/>
                </a:lnTo>
                <a:lnTo>
                  <a:pt x="0" y="37218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2" id="22"/>
          <p:cNvGrpSpPr/>
          <p:nvPr/>
        </p:nvGrpSpPr>
        <p:grpSpPr>
          <a:xfrm rot="5400000">
            <a:off x="3727752" y="1601429"/>
            <a:ext cx="47625" cy="5115117"/>
            <a:chOff x="0" y="0"/>
            <a:chExt cx="12543" cy="1347191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2543" cy="1347191"/>
            </a:xfrm>
            <a:custGeom>
              <a:avLst/>
              <a:gdLst/>
              <a:ahLst/>
              <a:cxnLst/>
              <a:rect r="r" b="b" t="t" l="l"/>
              <a:pathLst>
                <a:path h="1347191" w="12543">
                  <a:moveTo>
                    <a:pt x="6272" y="0"/>
                  </a:moveTo>
                  <a:lnTo>
                    <a:pt x="6272" y="0"/>
                  </a:lnTo>
                  <a:cubicBezTo>
                    <a:pt x="7935" y="0"/>
                    <a:pt x="9530" y="661"/>
                    <a:pt x="10706" y="1837"/>
                  </a:cubicBezTo>
                  <a:cubicBezTo>
                    <a:pt x="11882" y="3013"/>
                    <a:pt x="12543" y="4608"/>
                    <a:pt x="12543" y="6272"/>
                  </a:cubicBezTo>
                  <a:lnTo>
                    <a:pt x="12543" y="1340920"/>
                  </a:lnTo>
                  <a:cubicBezTo>
                    <a:pt x="12543" y="1342583"/>
                    <a:pt x="11882" y="1344178"/>
                    <a:pt x="10706" y="1345354"/>
                  </a:cubicBezTo>
                  <a:cubicBezTo>
                    <a:pt x="9530" y="1346531"/>
                    <a:pt x="7935" y="1347191"/>
                    <a:pt x="6272" y="1347191"/>
                  </a:cubicBezTo>
                  <a:lnTo>
                    <a:pt x="6272" y="1347191"/>
                  </a:lnTo>
                  <a:cubicBezTo>
                    <a:pt x="4608" y="1347191"/>
                    <a:pt x="3013" y="1346531"/>
                    <a:pt x="1837" y="1345354"/>
                  </a:cubicBezTo>
                  <a:cubicBezTo>
                    <a:pt x="661" y="1344178"/>
                    <a:pt x="0" y="1342583"/>
                    <a:pt x="0" y="1340920"/>
                  </a:cubicBezTo>
                  <a:lnTo>
                    <a:pt x="0" y="6272"/>
                  </a:lnTo>
                  <a:cubicBezTo>
                    <a:pt x="0" y="4608"/>
                    <a:pt x="661" y="3013"/>
                    <a:pt x="1837" y="1837"/>
                  </a:cubicBezTo>
                  <a:cubicBezTo>
                    <a:pt x="3013" y="661"/>
                    <a:pt x="4608" y="0"/>
                    <a:pt x="6272" y="0"/>
                  </a:cubicBezTo>
                  <a:close/>
                </a:path>
              </a:pathLst>
            </a:custGeom>
            <a:solidFill>
              <a:srgbClr val="021134">
                <a:alpha val="83922"/>
              </a:srgbClr>
            </a:solidFill>
            <a:ln w="19050" cap="rnd">
              <a:solidFill>
                <a:srgbClr val="E2E3EA">
                  <a:alpha val="83922"/>
                </a:srgbClr>
              </a:solidFill>
              <a:prstDash val="solid"/>
              <a:round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12543" cy="13852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2364084" y="9231392"/>
            <a:ext cx="13447236" cy="5963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29"/>
              </a:lnSpc>
              <a:spcBef>
                <a:spcPct val="0"/>
              </a:spcBef>
            </a:pPr>
            <a:r>
              <a:rPr lang="en-US" b="true" sz="3521">
                <a:solidFill>
                  <a:srgbClr val="FFFFFF"/>
                </a:solidFill>
                <a:latin typeface="29LT Riwaya Bold"/>
                <a:ea typeface="29LT Riwaya Bold"/>
                <a:cs typeface="29LT Riwaya Bold"/>
                <a:sym typeface="29LT Riwaya Bold"/>
              </a:rPr>
              <a:t>A</a:t>
            </a:r>
            <a:r>
              <a:rPr lang="en-US" b="true" sz="3521">
                <a:solidFill>
                  <a:srgbClr val="FFFFFF"/>
                </a:solidFill>
                <a:latin typeface="29LT Riwaya Bold"/>
                <a:ea typeface="29LT Riwaya Bold"/>
                <a:cs typeface="29LT Riwaya Bold"/>
                <a:sym typeface="29LT Riwaya Bold"/>
              </a:rPr>
              <a:t>nalyze the performance and recovery of Bridges &amp; Tunnels traffic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2058972" y="2734909"/>
            <a:ext cx="3366135" cy="8963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97"/>
              </a:lnSpc>
              <a:spcBef>
                <a:spcPct val="0"/>
              </a:spcBef>
            </a:pPr>
            <a:r>
              <a:rPr lang="en-US" sz="5212">
                <a:solidFill>
                  <a:srgbClr val="1631A5"/>
                </a:solidFill>
                <a:latin typeface="MediaPro Heavy Condensed"/>
                <a:ea typeface="MediaPro Heavy Condensed"/>
                <a:cs typeface="MediaPro Heavy Condensed"/>
                <a:sym typeface="MediaPro Heavy Condensed"/>
              </a:rPr>
              <a:t>Key Features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510084" y="6910069"/>
            <a:ext cx="5469280" cy="1003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88"/>
              </a:lnSpc>
            </a:pPr>
            <a:r>
              <a:rPr lang="en-US" sz="2848">
                <a:solidFill>
                  <a:srgbClr val="FFFFFF"/>
                </a:solidFill>
                <a:latin typeface="Tagamo3"/>
                <a:ea typeface="Tagamo3"/>
                <a:cs typeface="Tagamo3"/>
                <a:sym typeface="Tagamo3"/>
              </a:rPr>
              <a:t>Weekday vs Weekend Analysis</a:t>
            </a:r>
          </a:p>
          <a:p>
            <a:pPr algn="l">
              <a:lnSpc>
                <a:spcPts val="3988"/>
              </a:lnSpc>
            </a:pPr>
          </a:p>
        </p:txBody>
      </p:sp>
      <p:sp>
        <p:nvSpPr>
          <p:cNvPr name="TextBox 28" id="28"/>
          <p:cNvSpPr txBox="true"/>
          <p:nvPr/>
        </p:nvSpPr>
        <p:spPr>
          <a:xfrm rot="0">
            <a:off x="1510084" y="4644355"/>
            <a:ext cx="2715590" cy="499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88"/>
              </a:lnSpc>
            </a:pPr>
            <a:r>
              <a:rPr lang="en-US" sz="2848">
                <a:solidFill>
                  <a:srgbClr val="FFFFFF"/>
                </a:solidFill>
                <a:latin typeface="Tagamo3"/>
                <a:ea typeface="Tagamo3"/>
                <a:cs typeface="Tagamo3"/>
                <a:sym typeface="Tagamo3"/>
              </a:rPr>
              <a:t>Total Ridership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510084" y="5420257"/>
            <a:ext cx="3152845" cy="499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88"/>
              </a:lnSpc>
            </a:pPr>
            <a:r>
              <a:rPr lang="en-US" sz="2848">
                <a:solidFill>
                  <a:srgbClr val="FFFFFF"/>
                </a:solidFill>
                <a:latin typeface="Tagamo3"/>
                <a:ea typeface="Tagamo3"/>
                <a:cs typeface="Tagamo3"/>
                <a:sym typeface="Tagamo3"/>
              </a:rPr>
              <a:t>Traffic Rate KPI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510084" y="6174722"/>
            <a:ext cx="4763785" cy="499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88"/>
              </a:lnSpc>
            </a:pPr>
            <a:r>
              <a:rPr lang="en-US" sz="2848">
                <a:solidFill>
                  <a:srgbClr val="FFFFFF"/>
                </a:solidFill>
                <a:latin typeface="Tagamo3"/>
                <a:ea typeface="Tagamo3"/>
                <a:cs typeface="Tagamo3"/>
                <a:sym typeface="Tagamo3"/>
              </a:rPr>
              <a:t>Monthly Recovery Timeline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7534311" y="2151066"/>
            <a:ext cx="10351509" cy="6247341"/>
            <a:chOff x="0" y="0"/>
            <a:chExt cx="8414870" cy="507854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414870" cy="5078540"/>
            </a:xfrm>
            <a:custGeom>
              <a:avLst/>
              <a:gdLst/>
              <a:ahLst/>
              <a:cxnLst/>
              <a:rect r="r" b="b" t="t" l="l"/>
              <a:pathLst>
                <a:path h="5078540" w="8414870">
                  <a:moveTo>
                    <a:pt x="0" y="4316759"/>
                  </a:moveTo>
                  <a:lnTo>
                    <a:pt x="0" y="761781"/>
                  </a:lnTo>
                  <a:cubicBezTo>
                    <a:pt x="0" y="340262"/>
                    <a:pt x="225519" y="0"/>
                    <a:pt x="504892" y="0"/>
                  </a:cubicBezTo>
                  <a:lnTo>
                    <a:pt x="7909978" y="0"/>
                  </a:lnTo>
                  <a:cubicBezTo>
                    <a:pt x="8189351" y="0"/>
                    <a:pt x="8414870" y="340262"/>
                    <a:pt x="8414870" y="761781"/>
                  </a:cubicBezTo>
                  <a:lnTo>
                    <a:pt x="8414870" y="4316759"/>
                  </a:lnTo>
                  <a:cubicBezTo>
                    <a:pt x="8414870" y="4738279"/>
                    <a:pt x="8189351" y="5078540"/>
                    <a:pt x="7909978" y="5078540"/>
                  </a:cubicBezTo>
                  <a:lnTo>
                    <a:pt x="504892" y="5078540"/>
                  </a:lnTo>
                  <a:cubicBezTo>
                    <a:pt x="225519" y="5078540"/>
                    <a:pt x="0" y="4738279"/>
                    <a:pt x="0" y="4316759"/>
                  </a:cubicBezTo>
                  <a:close/>
                </a:path>
              </a:pathLst>
            </a:custGeom>
            <a:blipFill>
              <a:blip r:embed="rId3"/>
              <a:stretch>
                <a:fillRect l="-4127" t="0" r="-4127" b="0"/>
              </a:stretch>
            </a:blipFill>
            <a:ln w="66675" cap="sq">
              <a:solidFill>
                <a:srgbClr val="87C2DB"/>
              </a:solidFill>
              <a:prstDash val="solid"/>
              <a:miter/>
            </a:ln>
          </p:spPr>
        </p:sp>
      </p:grpSp>
      <p:grpSp>
        <p:nvGrpSpPr>
          <p:cNvPr name="Group 5" id="5"/>
          <p:cNvGrpSpPr/>
          <p:nvPr/>
        </p:nvGrpSpPr>
        <p:grpSpPr>
          <a:xfrm rot="0">
            <a:off x="1028700" y="8980564"/>
            <a:ext cx="16230600" cy="1049622"/>
            <a:chOff x="0" y="0"/>
            <a:chExt cx="21640800" cy="1399496"/>
          </a:xfrm>
        </p:grpSpPr>
        <p:grpSp>
          <p:nvGrpSpPr>
            <p:cNvPr name="Group 6" id="6"/>
            <p:cNvGrpSpPr/>
            <p:nvPr/>
          </p:nvGrpSpPr>
          <p:grpSpPr>
            <a:xfrm rot="5400000">
              <a:off x="10120652" y="-10120652"/>
              <a:ext cx="1399496" cy="21640800"/>
              <a:chOff x="0" y="0"/>
              <a:chExt cx="276444" cy="4274726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276444" cy="4274726"/>
              </a:xfrm>
              <a:custGeom>
                <a:avLst/>
                <a:gdLst/>
                <a:ahLst/>
                <a:cxnLst/>
                <a:rect r="r" b="b" t="t" l="l"/>
                <a:pathLst>
                  <a:path h="4274726" w="276444">
                    <a:moveTo>
                      <a:pt x="138222" y="0"/>
                    </a:moveTo>
                    <a:lnTo>
                      <a:pt x="138222" y="0"/>
                    </a:lnTo>
                    <a:cubicBezTo>
                      <a:pt x="214560" y="0"/>
                      <a:pt x="276444" y="61884"/>
                      <a:pt x="276444" y="138222"/>
                    </a:cubicBezTo>
                    <a:lnTo>
                      <a:pt x="276444" y="4136504"/>
                    </a:lnTo>
                    <a:cubicBezTo>
                      <a:pt x="276444" y="4173163"/>
                      <a:pt x="261881" y="4208320"/>
                      <a:pt x="235959" y="4234242"/>
                    </a:cubicBezTo>
                    <a:cubicBezTo>
                      <a:pt x="210038" y="4260163"/>
                      <a:pt x="174881" y="4274726"/>
                      <a:pt x="138222" y="4274726"/>
                    </a:cubicBezTo>
                    <a:lnTo>
                      <a:pt x="138222" y="4274726"/>
                    </a:lnTo>
                    <a:cubicBezTo>
                      <a:pt x="101563" y="4274726"/>
                      <a:pt x="66406" y="4260163"/>
                      <a:pt x="40484" y="4234242"/>
                    </a:cubicBezTo>
                    <a:cubicBezTo>
                      <a:pt x="14563" y="4208320"/>
                      <a:pt x="0" y="4173163"/>
                      <a:pt x="0" y="4136504"/>
                    </a:cubicBezTo>
                    <a:lnTo>
                      <a:pt x="0" y="138222"/>
                    </a:lnTo>
                    <a:cubicBezTo>
                      <a:pt x="0" y="101563"/>
                      <a:pt x="14563" y="66406"/>
                      <a:pt x="40484" y="40484"/>
                    </a:cubicBezTo>
                    <a:cubicBezTo>
                      <a:pt x="66406" y="14563"/>
                      <a:pt x="101563" y="0"/>
                      <a:pt x="138222" y="0"/>
                    </a:cubicBezTo>
                    <a:close/>
                  </a:path>
                </a:pathLst>
              </a:custGeom>
              <a:solidFill>
                <a:srgbClr val="021134">
                  <a:alpha val="83922"/>
                </a:srgbClr>
              </a:solidFill>
              <a:ln w="19050" cap="rnd">
                <a:solidFill>
                  <a:srgbClr val="E2E3EA">
                    <a:alpha val="83922"/>
                  </a:srgbClr>
                </a:solidFill>
                <a:prstDash val="solid"/>
                <a:round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38100"/>
                <a:ext cx="276444" cy="431282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Freeform 9" id="9"/>
            <p:cNvSpPr/>
            <p:nvPr/>
          </p:nvSpPr>
          <p:spPr>
            <a:xfrm flipH="false" flipV="false" rot="5400000">
              <a:off x="10079450" y="-9709051"/>
              <a:ext cx="1399496" cy="20817597"/>
            </a:xfrm>
            <a:custGeom>
              <a:avLst/>
              <a:gdLst/>
              <a:ahLst/>
              <a:cxnLst/>
              <a:rect r="r" b="b" t="t" l="l"/>
              <a:pathLst>
                <a:path h="20817597" w="1399496">
                  <a:moveTo>
                    <a:pt x="0" y="0"/>
                  </a:moveTo>
                  <a:lnTo>
                    <a:pt x="1399496" y="0"/>
                  </a:lnTo>
                  <a:lnTo>
                    <a:pt x="1399496" y="20817598"/>
                  </a:lnTo>
                  <a:lnTo>
                    <a:pt x="0" y="208175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14000"/>
              </a:blip>
              <a:stretch>
                <a:fillRect l="-960507" t="-1617" r="-564838" b="0"/>
              </a:stretch>
            </a:blipFill>
            <a:ln cap="sq">
              <a:noFill/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523765" y="2151066"/>
            <a:ext cx="6436549" cy="6247341"/>
            <a:chOff x="0" y="0"/>
            <a:chExt cx="8582066" cy="8329788"/>
          </a:xfrm>
        </p:grpSpPr>
        <p:grpSp>
          <p:nvGrpSpPr>
            <p:cNvPr name="Group 11" id="11"/>
            <p:cNvGrpSpPr/>
            <p:nvPr/>
          </p:nvGrpSpPr>
          <p:grpSpPr>
            <a:xfrm rot="5400000">
              <a:off x="126139" y="-126139"/>
              <a:ext cx="8329788" cy="8582066"/>
              <a:chOff x="0" y="0"/>
              <a:chExt cx="1645390" cy="1695223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1645390" cy="1695223"/>
              </a:xfrm>
              <a:custGeom>
                <a:avLst/>
                <a:gdLst/>
                <a:ahLst/>
                <a:cxnLst/>
                <a:rect r="r" b="b" t="t" l="l"/>
                <a:pathLst>
                  <a:path h="1695223" w="1645390">
                    <a:moveTo>
                      <a:pt x="63201" y="0"/>
                    </a:moveTo>
                    <a:lnTo>
                      <a:pt x="1582189" y="0"/>
                    </a:lnTo>
                    <a:cubicBezTo>
                      <a:pt x="1617094" y="0"/>
                      <a:pt x="1645390" y="28296"/>
                      <a:pt x="1645390" y="63201"/>
                    </a:cubicBezTo>
                    <a:lnTo>
                      <a:pt x="1645390" y="1632022"/>
                    </a:lnTo>
                    <a:cubicBezTo>
                      <a:pt x="1645390" y="1648784"/>
                      <a:pt x="1638732" y="1664859"/>
                      <a:pt x="1626879" y="1676712"/>
                    </a:cubicBezTo>
                    <a:cubicBezTo>
                      <a:pt x="1615027" y="1688564"/>
                      <a:pt x="1598951" y="1695223"/>
                      <a:pt x="1582189" y="1695223"/>
                    </a:cubicBezTo>
                    <a:lnTo>
                      <a:pt x="63201" y="1695223"/>
                    </a:lnTo>
                    <a:cubicBezTo>
                      <a:pt x="28296" y="1695223"/>
                      <a:pt x="0" y="1666927"/>
                      <a:pt x="0" y="1632022"/>
                    </a:cubicBezTo>
                    <a:lnTo>
                      <a:pt x="0" y="63201"/>
                    </a:lnTo>
                    <a:cubicBezTo>
                      <a:pt x="0" y="28296"/>
                      <a:pt x="28296" y="0"/>
                      <a:pt x="63201" y="0"/>
                    </a:cubicBezTo>
                    <a:close/>
                  </a:path>
                </a:pathLst>
              </a:custGeom>
              <a:solidFill>
                <a:srgbClr val="021134">
                  <a:alpha val="83922"/>
                </a:srgbClr>
              </a:solidFill>
              <a:ln w="19050" cap="rnd">
                <a:solidFill>
                  <a:srgbClr val="E2E3EA">
                    <a:alpha val="83922"/>
                  </a:srgbClr>
                </a:solidFill>
                <a:prstDash val="solid"/>
                <a:round/>
              </a:ln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0" y="-38100"/>
                <a:ext cx="1645390" cy="173332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Freeform 14" id="14"/>
            <p:cNvSpPr/>
            <p:nvPr/>
          </p:nvSpPr>
          <p:spPr>
            <a:xfrm flipH="false" flipV="false" rot="5400000">
              <a:off x="109799" y="37089"/>
              <a:ext cx="8329788" cy="8255609"/>
            </a:xfrm>
            <a:custGeom>
              <a:avLst/>
              <a:gdLst/>
              <a:ahLst/>
              <a:cxnLst/>
              <a:rect r="r" b="b" t="t" l="l"/>
              <a:pathLst>
                <a:path h="8255609" w="8329788">
                  <a:moveTo>
                    <a:pt x="0" y="0"/>
                  </a:moveTo>
                  <a:lnTo>
                    <a:pt x="8329788" y="0"/>
                  </a:lnTo>
                  <a:lnTo>
                    <a:pt x="8329788" y="8255610"/>
                  </a:lnTo>
                  <a:lnTo>
                    <a:pt x="0" y="82556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14000"/>
              </a:blip>
              <a:stretch>
                <a:fillRect l="-32176" t="-13001" r="0" b="-11027"/>
              </a:stretch>
            </a:blipFill>
            <a:ln cap="sq">
              <a:noFill/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5400000">
            <a:off x="3291776" y="1251424"/>
            <a:ext cx="900528" cy="3859046"/>
            <a:chOff x="0" y="0"/>
            <a:chExt cx="237176" cy="1016374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37176" cy="1016374"/>
            </a:xfrm>
            <a:custGeom>
              <a:avLst/>
              <a:gdLst/>
              <a:ahLst/>
              <a:cxnLst/>
              <a:rect r="r" b="b" t="t" l="l"/>
              <a:pathLst>
                <a:path h="1016374" w="237176">
                  <a:moveTo>
                    <a:pt x="118588" y="0"/>
                  </a:moveTo>
                  <a:lnTo>
                    <a:pt x="118588" y="0"/>
                  </a:lnTo>
                  <a:cubicBezTo>
                    <a:pt x="184082" y="0"/>
                    <a:pt x="237176" y="53094"/>
                    <a:pt x="237176" y="118588"/>
                  </a:cubicBezTo>
                  <a:lnTo>
                    <a:pt x="237176" y="897786"/>
                  </a:lnTo>
                  <a:cubicBezTo>
                    <a:pt x="237176" y="963281"/>
                    <a:pt x="184082" y="1016374"/>
                    <a:pt x="118588" y="1016374"/>
                  </a:cubicBezTo>
                  <a:lnTo>
                    <a:pt x="118588" y="1016374"/>
                  </a:lnTo>
                  <a:cubicBezTo>
                    <a:pt x="53094" y="1016374"/>
                    <a:pt x="0" y="963281"/>
                    <a:pt x="0" y="897786"/>
                  </a:cubicBezTo>
                  <a:lnTo>
                    <a:pt x="0" y="118588"/>
                  </a:lnTo>
                  <a:cubicBezTo>
                    <a:pt x="0" y="53094"/>
                    <a:pt x="53094" y="0"/>
                    <a:pt x="118588" y="0"/>
                  </a:cubicBezTo>
                  <a:close/>
                </a:path>
              </a:pathLst>
            </a:custGeom>
            <a:solidFill>
              <a:srgbClr val="FFFFFF">
                <a:alpha val="87843"/>
              </a:srgbClr>
            </a:solidFill>
            <a:ln w="19050" cap="rnd">
              <a:solidFill>
                <a:srgbClr val="E2E3EA">
                  <a:alpha val="87843"/>
                </a:srgbClr>
              </a:solidFill>
              <a:prstDash val="solid"/>
              <a:round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237176" cy="10544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812732" y="4783228"/>
            <a:ext cx="431936" cy="372185"/>
          </a:xfrm>
          <a:custGeom>
            <a:avLst/>
            <a:gdLst/>
            <a:ahLst/>
            <a:cxnLst/>
            <a:rect r="r" b="b" t="t" l="l"/>
            <a:pathLst>
              <a:path h="372185" w="431936">
                <a:moveTo>
                  <a:pt x="0" y="0"/>
                </a:moveTo>
                <a:lnTo>
                  <a:pt x="431936" y="0"/>
                </a:lnTo>
                <a:lnTo>
                  <a:pt x="431936" y="372185"/>
                </a:lnTo>
                <a:lnTo>
                  <a:pt x="0" y="37218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812732" y="7073207"/>
            <a:ext cx="431936" cy="372185"/>
          </a:xfrm>
          <a:custGeom>
            <a:avLst/>
            <a:gdLst/>
            <a:ahLst/>
            <a:cxnLst/>
            <a:rect r="r" b="b" t="t" l="l"/>
            <a:pathLst>
              <a:path h="372185" w="431936">
                <a:moveTo>
                  <a:pt x="0" y="0"/>
                </a:moveTo>
                <a:lnTo>
                  <a:pt x="431936" y="0"/>
                </a:lnTo>
                <a:lnTo>
                  <a:pt x="431936" y="372185"/>
                </a:lnTo>
                <a:lnTo>
                  <a:pt x="0" y="37218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812732" y="6301682"/>
            <a:ext cx="431936" cy="372185"/>
          </a:xfrm>
          <a:custGeom>
            <a:avLst/>
            <a:gdLst/>
            <a:ahLst/>
            <a:cxnLst/>
            <a:rect r="r" b="b" t="t" l="l"/>
            <a:pathLst>
              <a:path h="372185" w="431936">
                <a:moveTo>
                  <a:pt x="0" y="0"/>
                </a:moveTo>
                <a:lnTo>
                  <a:pt x="431936" y="0"/>
                </a:lnTo>
                <a:lnTo>
                  <a:pt x="431936" y="372185"/>
                </a:lnTo>
                <a:lnTo>
                  <a:pt x="0" y="37218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812732" y="5547218"/>
            <a:ext cx="431936" cy="372185"/>
          </a:xfrm>
          <a:custGeom>
            <a:avLst/>
            <a:gdLst/>
            <a:ahLst/>
            <a:cxnLst/>
            <a:rect r="r" b="b" t="t" l="l"/>
            <a:pathLst>
              <a:path h="372185" w="431936">
                <a:moveTo>
                  <a:pt x="0" y="0"/>
                </a:moveTo>
                <a:lnTo>
                  <a:pt x="431936" y="0"/>
                </a:lnTo>
                <a:lnTo>
                  <a:pt x="431936" y="372184"/>
                </a:lnTo>
                <a:lnTo>
                  <a:pt x="0" y="37218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2" id="22"/>
          <p:cNvGrpSpPr/>
          <p:nvPr/>
        </p:nvGrpSpPr>
        <p:grpSpPr>
          <a:xfrm rot="5400000">
            <a:off x="3727752" y="1601429"/>
            <a:ext cx="47625" cy="5115117"/>
            <a:chOff x="0" y="0"/>
            <a:chExt cx="12543" cy="1347191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2543" cy="1347191"/>
            </a:xfrm>
            <a:custGeom>
              <a:avLst/>
              <a:gdLst/>
              <a:ahLst/>
              <a:cxnLst/>
              <a:rect r="r" b="b" t="t" l="l"/>
              <a:pathLst>
                <a:path h="1347191" w="12543">
                  <a:moveTo>
                    <a:pt x="6272" y="0"/>
                  </a:moveTo>
                  <a:lnTo>
                    <a:pt x="6272" y="0"/>
                  </a:lnTo>
                  <a:cubicBezTo>
                    <a:pt x="7935" y="0"/>
                    <a:pt x="9530" y="661"/>
                    <a:pt x="10706" y="1837"/>
                  </a:cubicBezTo>
                  <a:cubicBezTo>
                    <a:pt x="11882" y="3013"/>
                    <a:pt x="12543" y="4608"/>
                    <a:pt x="12543" y="6272"/>
                  </a:cubicBezTo>
                  <a:lnTo>
                    <a:pt x="12543" y="1340920"/>
                  </a:lnTo>
                  <a:cubicBezTo>
                    <a:pt x="12543" y="1342583"/>
                    <a:pt x="11882" y="1344178"/>
                    <a:pt x="10706" y="1345354"/>
                  </a:cubicBezTo>
                  <a:cubicBezTo>
                    <a:pt x="9530" y="1346531"/>
                    <a:pt x="7935" y="1347191"/>
                    <a:pt x="6272" y="1347191"/>
                  </a:cubicBezTo>
                  <a:lnTo>
                    <a:pt x="6272" y="1347191"/>
                  </a:lnTo>
                  <a:cubicBezTo>
                    <a:pt x="4608" y="1347191"/>
                    <a:pt x="3013" y="1346531"/>
                    <a:pt x="1837" y="1345354"/>
                  </a:cubicBezTo>
                  <a:cubicBezTo>
                    <a:pt x="661" y="1344178"/>
                    <a:pt x="0" y="1342583"/>
                    <a:pt x="0" y="1340920"/>
                  </a:cubicBezTo>
                  <a:lnTo>
                    <a:pt x="0" y="6272"/>
                  </a:lnTo>
                  <a:cubicBezTo>
                    <a:pt x="0" y="4608"/>
                    <a:pt x="661" y="3013"/>
                    <a:pt x="1837" y="1837"/>
                  </a:cubicBezTo>
                  <a:cubicBezTo>
                    <a:pt x="3013" y="661"/>
                    <a:pt x="4608" y="0"/>
                    <a:pt x="6272" y="0"/>
                  </a:cubicBezTo>
                  <a:close/>
                </a:path>
              </a:pathLst>
            </a:custGeom>
            <a:solidFill>
              <a:srgbClr val="021134">
                <a:alpha val="83922"/>
              </a:srgbClr>
            </a:solidFill>
            <a:ln w="19050" cap="rnd">
              <a:solidFill>
                <a:srgbClr val="E2E3EA">
                  <a:alpha val="83922"/>
                </a:srgbClr>
              </a:solidFill>
              <a:prstDash val="solid"/>
              <a:round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12543" cy="13852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2025074" y="9231392"/>
            <a:ext cx="14125258" cy="5963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29"/>
              </a:lnSpc>
              <a:spcBef>
                <a:spcPct val="0"/>
              </a:spcBef>
            </a:pPr>
            <a:r>
              <a:rPr lang="en-US" b="true" sz="3521">
                <a:solidFill>
                  <a:srgbClr val="FFFFFF"/>
                </a:solidFill>
                <a:latin typeface="29LT Riwaya Bold"/>
                <a:ea typeface="29LT Riwaya Bold"/>
                <a:cs typeface="29LT Riwaya Bold"/>
                <a:sym typeface="29LT Riwaya Bold"/>
              </a:rPr>
              <a:t>A</a:t>
            </a:r>
            <a:r>
              <a:rPr lang="en-US" b="true" sz="3521">
                <a:solidFill>
                  <a:srgbClr val="FFFFFF"/>
                </a:solidFill>
                <a:latin typeface="29LT Riwaya Bold"/>
                <a:ea typeface="29LT Riwaya Bold"/>
                <a:cs typeface="29LT Riwaya Bold"/>
                <a:sym typeface="29LT Riwaya Bold"/>
              </a:rPr>
              <a:t>nalyze the recovery of LIRR, Metro-North, and Staten Island Railway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2058972" y="2734909"/>
            <a:ext cx="3366135" cy="8963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97"/>
              </a:lnSpc>
              <a:spcBef>
                <a:spcPct val="0"/>
              </a:spcBef>
            </a:pPr>
            <a:r>
              <a:rPr lang="en-US" sz="5212">
                <a:solidFill>
                  <a:srgbClr val="1631A5"/>
                </a:solidFill>
                <a:latin typeface="MediaPro Heavy Condensed"/>
                <a:ea typeface="MediaPro Heavy Condensed"/>
                <a:cs typeface="MediaPro Heavy Condensed"/>
                <a:sym typeface="MediaPro Heavy Condensed"/>
              </a:rPr>
              <a:t>Key Features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510084" y="6910069"/>
            <a:ext cx="5469280" cy="1003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88"/>
              </a:lnSpc>
            </a:pPr>
            <a:r>
              <a:rPr lang="en-US" sz="2848">
                <a:solidFill>
                  <a:srgbClr val="FFFFFF"/>
                </a:solidFill>
                <a:latin typeface="Tagamo3"/>
                <a:ea typeface="Tagamo3"/>
                <a:cs typeface="Tagamo3"/>
                <a:sym typeface="Tagamo3"/>
              </a:rPr>
              <a:t>Weekday vs Weekend Analysis</a:t>
            </a:r>
          </a:p>
          <a:p>
            <a:pPr algn="l">
              <a:lnSpc>
                <a:spcPts val="3988"/>
              </a:lnSpc>
            </a:pPr>
          </a:p>
        </p:txBody>
      </p:sp>
      <p:sp>
        <p:nvSpPr>
          <p:cNvPr name="TextBox 28" id="28"/>
          <p:cNvSpPr txBox="true"/>
          <p:nvPr/>
        </p:nvSpPr>
        <p:spPr>
          <a:xfrm rot="0">
            <a:off x="1510084" y="4656267"/>
            <a:ext cx="3336600" cy="499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88"/>
              </a:lnSpc>
            </a:pPr>
            <a:r>
              <a:rPr lang="en-US" sz="2848">
                <a:solidFill>
                  <a:srgbClr val="FFFFFF"/>
                </a:solidFill>
                <a:latin typeface="Tagamo3"/>
                <a:ea typeface="Tagamo3"/>
                <a:cs typeface="Tagamo3"/>
                <a:sym typeface="Tagamo3"/>
              </a:rPr>
              <a:t>Total Ridership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510084" y="5420257"/>
            <a:ext cx="3152845" cy="499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88"/>
              </a:lnSpc>
            </a:pPr>
            <a:r>
              <a:rPr lang="en-US" sz="2848">
                <a:solidFill>
                  <a:srgbClr val="FFFFFF"/>
                </a:solidFill>
                <a:latin typeface="Tagamo3"/>
                <a:ea typeface="Tagamo3"/>
                <a:cs typeface="Tagamo3"/>
                <a:sym typeface="Tagamo3"/>
              </a:rPr>
              <a:t>Mobility Rate KPI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510084" y="6174722"/>
            <a:ext cx="4763785" cy="499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88"/>
              </a:lnSpc>
            </a:pPr>
            <a:r>
              <a:rPr lang="en-US" sz="2848">
                <a:solidFill>
                  <a:srgbClr val="FFFFFF"/>
                </a:solidFill>
                <a:latin typeface="Tagamo3"/>
                <a:ea typeface="Tagamo3"/>
                <a:cs typeface="Tagamo3"/>
                <a:sym typeface="Tagamo3"/>
              </a:rPr>
              <a:t>Monthly Recovery Timeline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5400000">
            <a:off x="5141817" y="-2501303"/>
            <a:ext cx="8004366" cy="17115148"/>
            <a:chOff x="0" y="0"/>
            <a:chExt cx="2108179" cy="450757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08179" cy="4507576"/>
            </a:xfrm>
            <a:custGeom>
              <a:avLst/>
              <a:gdLst/>
              <a:ahLst/>
              <a:cxnLst/>
              <a:rect r="r" b="b" t="t" l="l"/>
              <a:pathLst>
                <a:path h="4507576" w="2108179">
                  <a:moveTo>
                    <a:pt x="2108179" y="78344"/>
                  </a:moveTo>
                  <a:lnTo>
                    <a:pt x="2108179" y="4429232"/>
                  </a:lnTo>
                  <a:cubicBezTo>
                    <a:pt x="2108179" y="4450011"/>
                    <a:pt x="2099925" y="4469938"/>
                    <a:pt x="2085232" y="4484630"/>
                  </a:cubicBezTo>
                  <a:cubicBezTo>
                    <a:pt x="2070540" y="4499322"/>
                    <a:pt x="2050613" y="4507576"/>
                    <a:pt x="2029834" y="4507576"/>
                  </a:cubicBezTo>
                  <a:lnTo>
                    <a:pt x="78344" y="4507576"/>
                  </a:lnTo>
                  <a:cubicBezTo>
                    <a:pt x="57566" y="4507576"/>
                    <a:pt x="37639" y="4499322"/>
                    <a:pt x="22946" y="4484630"/>
                  </a:cubicBezTo>
                  <a:cubicBezTo>
                    <a:pt x="8254" y="4469938"/>
                    <a:pt x="0" y="4450011"/>
                    <a:pt x="0" y="4429232"/>
                  </a:cubicBezTo>
                  <a:lnTo>
                    <a:pt x="0" y="78344"/>
                  </a:lnTo>
                  <a:cubicBezTo>
                    <a:pt x="0" y="57566"/>
                    <a:pt x="8254" y="37639"/>
                    <a:pt x="22946" y="22946"/>
                  </a:cubicBezTo>
                  <a:cubicBezTo>
                    <a:pt x="37639" y="8254"/>
                    <a:pt x="57566" y="0"/>
                    <a:pt x="78344" y="0"/>
                  </a:cubicBezTo>
                  <a:lnTo>
                    <a:pt x="2029834" y="0"/>
                  </a:lnTo>
                  <a:cubicBezTo>
                    <a:pt x="2073103" y="0"/>
                    <a:pt x="2108179" y="35076"/>
                    <a:pt x="2108179" y="78344"/>
                  </a:cubicBezTo>
                  <a:close/>
                </a:path>
              </a:pathLst>
            </a:custGeom>
            <a:solidFill>
              <a:srgbClr val="021134">
                <a:alpha val="75686"/>
              </a:srgbClr>
            </a:solidFill>
            <a:ln w="19050" cap="rnd">
              <a:solidFill>
                <a:srgbClr val="E2E3EA">
                  <a:alpha val="75686"/>
                </a:srgbClr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108179" cy="45456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028700" y="6199963"/>
            <a:ext cx="603187" cy="460684"/>
          </a:xfrm>
          <a:custGeom>
            <a:avLst/>
            <a:gdLst/>
            <a:ahLst/>
            <a:cxnLst/>
            <a:rect r="r" b="b" t="t" l="l"/>
            <a:pathLst>
              <a:path h="460684" w="603187">
                <a:moveTo>
                  <a:pt x="0" y="0"/>
                </a:moveTo>
                <a:lnTo>
                  <a:pt x="603187" y="0"/>
                </a:lnTo>
                <a:lnTo>
                  <a:pt x="603187" y="460684"/>
                </a:lnTo>
                <a:lnTo>
                  <a:pt x="0" y="46068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368419" y="3402226"/>
            <a:ext cx="431936" cy="372185"/>
          </a:xfrm>
          <a:custGeom>
            <a:avLst/>
            <a:gdLst/>
            <a:ahLst/>
            <a:cxnLst/>
            <a:rect r="r" b="b" t="t" l="l"/>
            <a:pathLst>
              <a:path h="372185" w="431936">
                <a:moveTo>
                  <a:pt x="0" y="0"/>
                </a:moveTo>
                <a:lnTo>
                  <a:pt x="431936" y="0"/>
                </a:lnTo>
                <a:lnTo>
                  <a:pt x="431936" y="372185"/>
                </a:lnTo>
                <a:lnTo>
                  <a:pt x="0" y="37218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631887" y="5933776"/>
            <a:ext cx="9144000" cy="8882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14"/>
              </a:lnSpc>
              <a:spcBef>
                <a:spcPct val="0"/>
              </a:spcBef>
            </a:pPr>
            <a:r>
              <a:rPr lang="en-US" b="true" sz="5153">
                <a:solidFill>
                  <a:srgbClr val="55DBFF"/>
                </a:solidFill>
                <a:latin typeface="29LT Riwaya Bold"/>
                <a:ea typeface="29LT Riwaya Bold"/>
                <a:cs typeface="29LT Riwaya Bold"/>
                <a:sym typeface="29LT Riwaya Bold"/>
              </a:rPr>
              <a:t>Bu</a:t>
            </a:r>
            <a:r>
              <a:rPr lang="en-US" b="true" sz="5153">
                <a:solidFill>
                  <a:srgbClr val="55DBFF"/>
                </a:solidFill>
                <a:latin typeface="29LT Riwaya Bold"/>
                <a:ea typeface="29LT Riwaya Bold"/>
                <a:cs typeface="29LT Riwaya Bold"/>
                <a:sym typeface="29LT Riwaya Bold"/>
              </a:rPr>
              <a:t>siness recommendations :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100898" y="3253949"/>
            <a:ext cx="2798508" cy="602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29"/>
              </a:lnSpc>
              <a:spcBef>
                <a:spcPct val="0"/>
              </a:spcBef>
            </a:pPr>
            <a:r>
              <a:rPr lang="en-US" b="true" sz="3521">
                <a:solidFill>
                  <a:srgbClr val="FFFFFF"/>
                </a:solidFill>
                <a:latin typeface="29LT Riwaya Bold"/>
                <a:ea typeface="29LT Riwaya Bold"/>
                <a:cs typeface="29LT Riwaya Bold"/>
                <a:sym typeface="29LT Riwaya Bold"/>
              </a:rPr>
              <a:t>Overall Trend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2368419" y="4166216"/>
            <a:ext cx="431936" cy="372185"/>
          </a:xfrm>
          <a:custGeom>
            <a:avLst/>
            <a:gdLst/>
            <a:ahLst/>
            <a:cxnLst/>
            <a:rect r="r" b="b" t="t" l="l"/>
            <a:pathLst>
              <a:path h="372185" w="431936">
                <a:moveTo>
                  <a:pt x="0" y="0"/>
                </a:moveTo>
                <a:lnTo>
                  <a:pt x="431936" y="0"/>
                </a:lnTo>
                <a:lnTo>
                  <a:pt x="431936" y="372185"/>
                </a:lnTo>
                <a:lnTo>
                  <a:pt x="0" y="37218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3100898" y="4017938"/>
            <a:ext cx="3687049" cy="602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29"/>
              </a:lnSpc>
              <a:spcBef>
                <a:spcPct val="0"/>
              </a:spcBef>
            </a:pPr>
            <a:r>
              <a:rPr lang="en-US" b="true" sz="3521">
                <a:solidFill>
                  <a:srgbClr val="FFFFFF"/>
                </a:solidFill>
                <a:latin typeface="29LT Riwaya Bold"/>
                <a:ea typeface="29LT Riwaya Bold"/>
                <a:cs typeface="29LT Riwaya Bold"/>
                <a:sym typeface="29LT Riwaya Bold"/>
              </a:rPr>
              <a:t>Highest Ridership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2368419" y="4930206"/>
            <a:ext cx="431936" cy="372185"/>
          </a:xfrm>
          <a:custGeom>
            <a:avLst/>
            <a:gdLst/>
            <a:ahLst/>
            <a:cxnLst/>
            <a:rect r="r" b="b" t="t" l="l"/>
            <a:pathLst>
              <a:path h="372185" w="431936">
                <a:moveTo>
                  <a:pt x="0" y="0"/>
                </a:moveTo>
                <a:lnTo>
                  <a:pt x="431936" y="0"/>
                </a:lnTo>
                <a:lnTo>
                  <a:pt x="431936" y="372184"/>
                </a:lnTo>
                <a:lnTo>
                  <a:pt x="0" y="37218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3100898" y="4781928"/>
            <a:ext cx="4528185" cy="602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29"/>
              </a:lnSpc>
              <a:spcBef>
                <a:spcPct val="0"/>
              </a:spcBef>
            </a:pPr>
            <a:r>
              <a:rPr lang="en-US" b="true" sz="3521">
                <a:solidFill>
                  <a:srgbClr val="FFFFFF"/>
                </a:solidFill>
                <a:latin typeface="29LT Riwaya Bold"/>
                <a:ea typeface="29LT Riwaya Bold"/>
                <a:cs typeface="29LT Riwaya Bold"/>
                <a:sym typeface="29LT Riwaya Bold"/>
              </a:rPr>
              <a:t>Recovery Comparison 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11095967" y="3402226"/>
            <a:ext cx="431936" cy="372185"/>
          </a:xfrm>
          <a:custGeom>
            <a:avLst/>
            <a:gdLst/>
            <a:ahLst/>
            <a:cxnLst/>
            <a:rect r="r" b="b" t="t" l="l"/>
            <a:pathLst>
              <a:path h="372185" w="431936">
                <a:moveTo>
                  <a:pt x="0" y="0"/>
                </a:moveTo>
                <a:lnTo>
                  <a:pt x="431936" y="0"/>
                </a:lnTo>
                <a:lnTo>
                  <a:pt x="431936" y="372185"/>
                </a:lnTo>
                <a:lnTo>
                  <a:pt x="0" y="37218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1828446" y="3253949"/>
            <a:ext cx="3385698" cy="602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29"/>
              </a:lnSpc>
              <a:spcBef>
                <a:spcPct val="0"/>
              </a:spcBef>
            </a:pPr>
            <a:r>
              <a:rPr lang="en-US" b="true" sz="3521">
                <a:solidFill>
                  <a:srgbClr val="FFFFFF"/>
                </a:solidFill>
                <a:latin typeface="29LT Riwaya Bold"/>
                <a:ea typeface="29LT Riwaya Bold"/>
                <a:cs typeface="29LT Riwaya Bold"/>
                <a:sym typeface="29LT Riwaya Bold"/>
              </a:rPr>
              <a:t>Fastest Recovery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11095967" y="4166216"/>
            <a:ext cx="431936" cy="372185"/>
          </a:xfrm>
          <a:custGeom>
            <a:avLst/>
            <a:gdLst/>
            <a:ahLst/>
            <a:cxnLst/>
            <a:rect r="r" b="b" t="t" l="l"/>
            <a:pathLst>
              <a:path h="372185" w="431936">
                <a:moveTo>
                  <a:pt x="0" y="0"/>
                </a:moveTo>
                <a:lnTo>
                  <a:pt x="431936" y="0"/>
                </a:lnTo>
                <a:lnTo>
                  <a:pt x="431936" y="372185"/>
                </a:lnTo>
                <a:lnTo>
                  <a:pt x="0" y="37218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1828446" y="4017938"/>
            <a:ext cx="3399692" cy="602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29"/>
              </a:lnSpc>
              <a:spcBef>
                <a:spcPct val="0"/>
              </a:spcBef>
            </a:pPr>
            <a:r>
              <a:rPr lang="en-US" b="true" sz="3521">
                <a:solidFill>
                  <a:srgbClr val="FFFFFF"/>
                </a:solidFill>
                <a:latin typeface="29LT Riwaya Bold"/>
                <a:ea typeface="29LT Riwaya Bold"/>
                <a:cs typeface="29LT Riwaya Bold"/>
                <a:sym typeface="29LT Riwaya Bold"/>
              </a:rPr>
              <a:t>Seasonal pattern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11095967" y="4930206"/>
            <a:ext cx="431936" cy="372185"/>
          </a:xfrm>
          <a:custGeom>
            <a:avLst/>
            <a:gdLst/>
            <a:ahLst/>
            <a:cxnLst/>
            <a:rect r="r" b="b" t="t" l="l"/>
            <a:pathLst>
              <a:path h="372185" w="431936">
                <a:moveTo>
                  <a:pt x="0" y="0"/>
                </a:moveTo>
                <a:lnTo>
                  <a:pt x="431936" y="0"/>
                </a:lnTo>
                <a:lnTo>
                  <a:pt x="431936" y="372184"/>
                </a:lnTo>
                <a:lnTo>
                  <a:pt x="0" y="37218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11828446" y="4781928"/>
            <a:ext cx="4546952" cy="602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29"/>
              </a:lnSpc>
              <a:spcBef>
                <a:spcPct val="0"/>
              </a:spcBef>
            </a:pPr>
            <a:r>
              <a:rPr lang="en-US" b="true" sz="3521">
                <a:solidFill>
                  <a:srgbClr val="FFFFFF"/>
                </a:solidFill>
                <a:latin typeface="29LT Riwaya Bold"/>
                <a:ea typeface="29LT Riwaya Bold"/>
                <a:cs typeface="29LT Riwaya Bold"/>
                <a:sym typeface="29LT Riwaya Bold"/>
              </a:rPr>
              <a:t> Weekday Vs Weekend 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2083977" y="5698318"/>
            <a:ext cx="14120046" cy="64008"/>
            <a:chOff x="0" y="0"/>
            <a:chExt cx="18826728" cy="8534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9753600" cy="85344"/>
            </a:xfrm>
            <a:custGeom>
              <a:avLst/>
              <a:gdLst/>
              <a:ahLst/>
              <a:cxnLst/>
              <a:rect r="r" b="b" t="t" l="l"/>
              <a:pathLst>
                <a:path h="85344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85344"/>
                  </a:lnTo>
                  <a:lnTo>
                    <a:pt x="0" y="853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alphaModFix amt="60000"/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9073128" y="0"/>
              <a:ext cx="9753600" cy="85344"/>
            </a:xfrm>
            <a:custGeom>
              <a:avLst/>
              <a:gdLst/>
              <a:ahLst/>
              <a:cxnLst/>
              <a:rect r="r" b="b" t="t" l="l"/>
              <a:pathLst>
                <a:path h="85344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85344"/>
                  </a:lnTo>
                  <a:lnTo>
                    <a:pt x="0" y="853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alphaModFix amt="60000"/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23" id="23"/>
          <p:cNvSpPr/>
          <p:nvPr/>
        </p:nvSpPr>
        <p:spPr>
          <a:xfrm flipH="false" flipV="false" rot="0">
            <a:off x="1028700" y="2465292"/>
            <a:ext cx="603187" cy="460684"/>
          </a:xfrm>
          <a:custGeom>
            <a:avLst/>
            <a:gdLst/>
            <a:ahLst/>
            <a:cxnLst/>
            <a:rect r="r" b="b" t="t" l="l"/>
            <a:pathLst>
              <a:path h="460684" w="603187">
                <a:moveTo>
                  <a:pt x="0" y="0"/>
                </a:moveTo>
                <a:lnTo>
                  <a:pt x="603187" y="0"/>
                </a:lnTo>
                <a:lnTo>
                  <a:pt x="603187" y="460684"/>
                </a:lnTo>
                <a:lnTo>
                  <a:pt x="0" y="46068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1960152" y="2190093"/>
            <a:ext cx="2745740" cy="8882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14"/>
              </a:lnSpc>
              <a:spcBef>
                <a:spcPct val="0"/>
              </a:spcBef>
            </a:pPr>
            <a:r>
              <a:rPr lang="en-US" b="true" sz="5153">
                <a:solidFill>
                  <a:srgbClr val="55DBFF"/>
                </a:solidFill>
                <a:latin typeface="29LT Riwaya Bold"/>
                <a:ea typeface="29LT Riwaya Bold"/>
                <a:cs typeface="29LT Riwaya Bold"/>
                <a:sym typeface="29LT Riwaya Bold"/>
              </a:rPr>
              <a:t>Insigths :</a:t>
            </a:r>
          </a:p>
        </p:txBody>
      </p:sp>
      <p:sp>
        <p:nvSpPr>
          <p:cNvPr name="Freeform 25" id="25"/>
          <p:cNvSpPr/>
          <p:nvPr/>
        </p:nvSpPr>
        <p:spPr>
          <a:xfrm flipH="false" flipV="false" rot="0">
            <a:off x="2368419" y="7217986"/>
            <a:ext cx="431936" cy="372185"/>
          </a:xfrm>
          <a:custGeom>
            <a:avLst/>
            <a:gdLst/>
            <a:ahLst/>
            <a:cxnLst/>
            <a:rect r="r" b="b" t="t" l="l"/>
            <a:pathLst>
              <a:path h="372185" w="431936">
                <a:moveTo>
                  <a:pt x="0" y="0"/>
                </a:moveTo>
                <a:lnTo>
                  <a:pt x="431936" y="0"/>
                </a:lnTo>
                <a:lnTo>
                  <a:pt x="431936" y="372185"/>
                </a:lnTo>
                <a:lnTo>
                  <a:pt x="0" y="37218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2914655" y="9350163"/>
            <a:ext cx="12731313" cy="602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29"/>
              </a:lnSpc>
              <a:spcBef>
                <a:spcPct val="0"/>
              </a:spcBef>
            </a:pPr>
            <a:r>
              <a:rPr lang="en-US" b="true" sz="3521">
                <a:solidFill>
                  <a:srgbClr val="FFFFFF"/>
                </a:solidFill>
                <a:latin typeface="29LT Riwaya Bold"/>
                <a:ea typeface="29LT Riwaya Bold"/>
                <a:cs typeface="29LT Riwaya Bold"/>
                <a:sym typeface="29LT Riwaya Bold"/>
              </a:rPr>
              <a:t>Focus on improving lower-performing transportation modes</a:t>
            </a:r>
          </a:p>
        </p:txBody>
      </p:sp>
      <p:sp>
        <p:nvSpPr>
          <p:cNvPr name="Freeform 27" id="27"/>
          <p:cNvSpPr/>
          <p:nvPr/>
        </p:nvSpPr>
        <p:spPr>
          <a:xfrm flipH="false" flipV="false" rot="0">
            <a:off x="2368419" y="9507965"/>
            <a:ext cx="431936" cy="372185"/>
          </a:xfrm>
          <a:custGeom>
            <a:avLst/>
            <a:gdLst/>
            <a:ahLst/>
            <a:cxnLst/>
            <a:rect r="r" b="b" t="t" l="l"/>
            <a:pathLst>
              <a:path h="372185" w="431936">
                <a:moveTo>
                  <a:pt x="0" y="0"/>
                </a:moveTo>
                <a:lnTo>
                  <a:pt x="431936" y="0"/>
                </a:lnTo>
                <a:lnTo>
                  <a:pt x="431936" y="372185"/>
                </a:lnTo>
                <a:lnTo>
                  <a:pt x="0" y="37218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8" id="28"/>
          <p:cNvSpPr txBox="true"/>
          <p:nvPr/>
        </p:nvSpPr>
        <p:spPr>
          <a:xfrm rot="0">
            <a:off x="3100898" y="7079233"/>
            <a:ext cx="6631460" cy="602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29"/>
              </a:lnSpc>
              <a:spcBef>
                <a:spcPct val="0"/>
              </a:spcBef>
            </a:pPr>
            <a:r>
              <a:rPr lang="en-US" b="true" sz="3521">
                <a:solidFill>
                  <a:srgbClr val="FFFFFF"/>
                </a:solidFill>
                <a:latin typeface="29LT Riwaya Bold"/>
                <a:ea typeface="29LT Riwaya Bold"/>
                <a:cs typeface="29LT Riwaya Bold"/>
                <a:sym typeface="29LT Riwaya Bold"/>
              </a:rPr>
              <a:t>Monitor ridership data regularly</a:t>
            </a:r>
          </a:p>
        </p:txBody>
      </p:sp>
      <p:sp>
        <p:nvSpPr>
          <p:cNvPr name="Freeform 29" id="29"/>
          <p:cNvSpPr/>
          <p:nvPr/>
        </p:nvSpPr>
        <p:spPr>
          <a:xfrm flipH="false" flipV="false" rot="0">
            <a:off x="2368419" y="8736440"/>
            <a:ext cx="431936" cy="372185"/>
          </a:xfrm>
          <a:custGeom>
            <a:avLst/>
            <a:gdLst/>
            <a:ahLst/>
            <a:cxnLst/>
            <a:rect r="r" b="b" t="t" l="l"/>
            <a:pathLst>
              <a:path h="372185" w="431936">
                <a:moveTo>
                  <a:pt x="0" y="0"/>
                </a:moveTo>
                <a:lnTo>
                  <a:pt x="431936" y="0"/>
                </a:lnTo>
                <a:lnTo>
                  <a:pt x="431936" y="372185"/>
                </a:lnTo>
                <a:lnTo>
                  <a:pt x="0" y="37218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0" id="30"/>
          <p:cNvSpPr txBox="true"/>
          <p:nvPr/>
        </p:nvSpPr>
        <p:spPr>
          <a:xfrm rot="0">
            <a:off x="3100898" y="8588163"/>
            <a:ext cx="12004687" cy="602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29"/>
              </a:lnSpc>
              <a:spcBef>
                <a:spcPct val="0"/>
              </a:spcBef>
            </a:pPr>
            <a:r>
              <a:rPr lang="en-US" b="true" sz="3521">
                <a:solidFill>
                  <a:srgbClr val="FFFFFF"/>
                </a:solidFill>
                <a:latin typeface="29LT Riwaya Bold"/>
                <a:ea typeface="29LT Riwaya Bold"/>
                <a:cs typeface="29LT Riwaya Bold"/>
                <a:sym typeface="29LT Riwaya Bold"/>
              </a:rPr>
              <a:t>Develop strategies to encourage public transportation types</a:t>
            </a:r>
          </a:p>
        </p:txBody>
      </p:sp>
      <p:sp>
        <p:nvSpPr>
          <p:cNvPr name="Freeform 31" id="31"/>
          <p:cNvSpPr/>
          <p:nvPr/>
        </p:nvSpPr>
        <p:spPr>
          <a:xfrm flipH="false" flipV="false" rot="0">
            <a:off x="2368419" y="7981976"/>
            <a:ext cx="431936" cy="372185"/>
          </a:xfrm>
          <a:custGeom>
            <a:avLst/>
            <a:gdLst/>
            <a:ahLst/>
            <a:cxnLst/>
            <a:rect r="r" b="b" t="t" l="l"/>
            <a:pathLst>
              <a:path h="372185" w="431936">
                <a:moveTo>
                  <a:pt x="0" y="0"/>
                </a:moveTo>
                <a:lnTo>
                  <a:pt x="431936" y="0"/>
                </a:lnTo>
                <a:lnTo>
                  <a:pt x="431936" y="372184"/>
                </a:lnTo>
                <a:lnTo>
                  <a:pt x="0" y="37218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2" id="32"/>
          <p:cNvSpPr txBox="true"/>
          <p:nvPr/>
        </p:nvSpPr>
        <p:spPr>
          <a:xfrm rot="0">
            <a:off x="3100898" y="7833698"/>
            <a:ext cx="9408706" cy="602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29"/>
              </a:lnSpc>
              <a:spcBef>
                <a:spcPct val="0"/>
              </a:spcBef>
            </a:pPr>
            <a:r>
              <a:rPr lang="en-US" b="true" sz="3521">
                <a:solidFill>
                  <a:srgbClr val="FFFFFF"/>
                </a:solidFill>
                <a:latin typeface="29LT Riwaya Bold"/>
                <a:ea typeface="29LT Riwaya Bold"/>
                <a:cs typeface="29LT Riwaya Bold"/>
                <a:sym typeface="29LT Riwaya Bold"/>
              </a:rPr>
              <a:t>Increase Service Frequency During Peak Hours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2301121" y="2199646"/>
            <a:ext cx="2584557" cy="1489351"/>
          </a:xfrm>
          <a:custGeom>
            <a:avLst/>
            <a:gdLst/>
            <a:ahLst/>
            <a:cxnLst/>
            <a:rect r="r" b="b" t="t" l="l"/>
            <a:pathLst>
              <a:path h="1489351" w="2584557">
                <a:moveTo>
                  <a:pt x="2584557" y="1489351"/>
                </a:moveTo>
                <a:lnTo>
                  <a:pt x="0" y="1489351"/>
                </a:lnTo>
                <a:lnTo>
                  <a:pt x="0" y="0"/>
                </a:lnTo>
                <a:lnTo>
                  <a:pt x="2584557" y="0"/>
                </a:lnTo>
                <a:lnTo>
                  <a:pt x="2584557" y="1489351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485775" y="2062957"/>
            <a:ext cx="2950806" cy="1626040"/>
            <a:chOff x="0" y="0"/>
            <a:chExt cx="8414870" cy="463701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414870" cy="4637010"/>
            </a:xfrm>
            <a:custGeom>
              <a:avLst/>
              <a:gdLst/>
              <a:ahLst/>
              <a:cxnLst/>
              <a:rect r="r" b="b" t="t" l="l"/>
              <a:pathLst>
                <a:path h="4637010" w="8414870">
                  <a:moveTo>
                    <a:pt x="0" y="3941459"/>
                  </a:moveTo>
                  <a:lnTo>
                    <a:pt x="0" y="695552"/>
                  </a:lnTo>
                  <a:cubicBezTo>
                    <a:pt x="0" y="310680"/>
                    <a:pt x="225519" y="0"/>
                    <a:pt x="504892" y="0"/>
                  </a:cubicBezTo>
                  <a:lnTo>
                    <a:pt x="7909978" y="0"/>
                  </a:lnTo>
                  <a:cubicBezTo>
                    <a:pt x="8189351" y="0"/>
                    <a:pt x="8414870" y="310680"/>
                    <a:pt x="8414870" y="695552"/>
                  </a:cubicBezTo>
                  <a:lnTo>
                    <a:pt x="8414870" y="3941459"/>
                  </a:lnTo>
                  <a:cubicBezTo>
                    <a:pt x="8414870" y="4326330"/>
                    <a:pt x="8189351" y="4637010"/>
                    <a:pt x="7909978" y="4637010"/>
                  </a:cubicBezTo>
                  <a:lnTo>
                    <a:pt x="504892" y="4637010"/>
                  </a:lnTo>
                  <a:cubicBezTo>
                    <a:pt x="225519" y="4637010"/>
                    <a:pt x="0" y="4326330"/>
                    <a:pt x="0" y="3941459"/>
                  </a:cubicBezTo>
                  <a:close/>
                </a:path>
              </a:pathLst>
            </a:custGeom>
            <a:blipFill>
              <a:blip r:embed="rId5"/>
              <a:stretch>
                <a:fillRect l="0" t="-857" r="0" b="-857"/>
              </a:stretch>
            </a:blipFill>
            <a:ln w="66675" cap="sq">
              <a:solidFill>
                <a:srgbClr val="87C2DB"/>
              </a:solidFill>
              <a:prstDash val="solid"/>
              <a:miter/>
            </a:ln>
          </p:spPr>
        </p:sp>
      </p:grpSp>
      <p:sp>
        <p:nvSpPr>
          <p:cNvPr name="Freeform 6" id="6"/>
          <p:cNvSpPr/>
          <p:nvPr/>
        </p:nvSpPr>
        <p:spPr>
          <a:xfrm flipH="false" flipV="true" rot="0">
            <a:off x="1795977" y="3763230"/>
            <a:ext cx="2584557" cy="1489351"/>
          </a:xfrm>
          <a:custGeom>
            <a:avLst/>
            <a:gdLst/>
            <a:ahLst/>
            <a:cxnLst/>
            <a:rect r="r" b="b" t="t" l="l"/>
            <a:pathLst>
              <a:path h="1489351" w="2584557">
                <a:moveTo>
                  <a:pt x="0" y="1489351"/>
                </a:moveTo>
                <a:lnTo>
                  <a:pt x="2584557" y="1489351"/>
                </a:lnTo>
                <a:lnTo>
                  <a:pt x="2584557" y="0"/>
                </a:lnTo>
                <a:lnTo>
                  <a:pt x="0" y="0"/>
                </a:lnTo>
                <a:lnTo>
                  <a:pt x="0" y="1489351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3593400" y="3694885"/>
            <a:ext cx="2950806" cy="1626040"/>
            <a:chOff x="0" y="0"/>
            <a:chExt cx="8414870" cy="463701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414870" cy="4637010"/>
            </a:xfrm>
            <a:custGeom>
              <a:avLst/>
              <a:gdLst/>
              <a:ahLst/>
              <a:cxnLst/>
              <a:rect r="r" b="b" t="t" l="l"/>
              <a:pathLst>
                <a:path h="4637010" w="8414870">
                  <a:moveTo>
                    <a:pt x="0" y="3941459"/>
                  </a:moveTo>
                  <a:lnTo>
                    <a:pt x="0" y="695552"/>
                  </a:lnTo>
                  <a:cubicBezTo>
                    <a:pt x="0" y="310680"/>
                    <a:pt x="225519" y="0"/>
                    <a:pt x="504892" y="0"/>
                  </a:cubicBezTo>
                  <a:lnTo>
                    <a:pt x="7909978" y="0"/>
                  </a:lnTo>
                  <a:cubicBezTo>
                    <a:pt x="8189351" y="0"/>
                    <a:pt x="8414870" y="310680"/>
                    <a:pt x="8414870" y="695552"/>
                  </a:cubicBezTo>
                  <a:lnTo>
                    <a:pt x="8414870" y="3941459"/>
                  </a:lnTo>
                  <a:cubicBezTo>
                    <a:pt x="8414870" y="4326330"/>
                    <a:pt x="8189351" y="4637010"/>
                    <a:pt x="7909978" y="4637010"/>
                  </a:cubicBezTo>
                  <a:lnTo>
                    <a:pt x="504892" y="4637010"/>
                  </a:lnTo>
                  <a:cubicBezTo>
                    <a:pt x="225519" y="4637010"/>
                    <a:pt x="0" y="4326330"/>
                    <a:pt x="0" y="3941459"/>
                  </a:cubicBezTo>
                  <a:close/>
                </a:path>
              </a:pathLst>
            </a:custGeom>
            <a:blipFill>
              <a:blip r:embed="rId6"/>
              <a:stretch>
                <a:fillRect l="0" t="-695" r="0" b="-695"/>
              </a:stretch>
            </a:blipFill>
            <a:ln w="66675" cap="sq">
              <a:solidFill>
                <a:srgbClr val="87C2DB"/>
              </a:solidFill>
              <a:prstDash val="solid"/>
              <a:miter/>
            </a:ln>
          </p:spPr>
        </p:sp>
      </p:grpSp>
      <p:sp>
        <p:nvSpPr>
          <p:cNvPr name="Freeform 9" id="9"/>
          <p:cNvSpPr/>
          <p:nvPr/>
        </p:nvSpPr>
        <p:spPr>
          <a:xfrm flipH="true" flipV="true" rot="0">
            <a:off x="2484245" y="5389270"/>
            <a:ext cx="2584557" cy="1489351"/>
          </a:xfrm>
          <a:custGeom>
            <a:avLst/>
            <a:gdLst/>
            <a:ahLst/>
            <a:cxnLst/>
            <a:rect r="r" b="b" t="t" l="l"/>
            <a:pathLst>
              <a:path h="1489351" w="2584557">
                <a:moveTo>
                  <a:pt x="2584558" y="1489351"/>
                </a:moveTo>
                <a:lnTo>
                  <a:pt x="0" y="1489351"/>
                </a:lnTo>
                <a:lnTo>
                  <a:pt x="0" y="0"/>
                </a:lnTo>
                <a:lnTo>
                  <a:pt x="2584558" y="0"/>
                </a:lnTo>
                <a:lnTo>
                  <a:pt x="2584558" y="1489351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485775" y="5252581"/>
            <a:ext cx="2950806" cy="1626040"/>
            <a:chOff x="0" y="0"/>
            <a:chExt cx="8414870" cy="463701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414870" cy="4637010"/>
            </a:xfrm>
            <a:custGeom>
              <a:avLst/>
              <a:gdLst/>
              <a:ahLst/>
              <a:cxnLst/>
              <a:rect r="r" b="b" t="t" l="l"/>
              <a:pathLst>
                <a:path h="4637010" w="8414870">
                  <a:moveTo>
                    <a:pt x="0" y="3941459"/>
                  </a:moveTo>
                  <a:lnTo>
                    <a:pt x="0" y="695552"/>
                  </a:lnTo>
                  <a:cubicBezTo>
                    <a:pt x="0" y="310680"/>
                    <a:pt x="225519" y="0"/>
                    <a:pt x="504892" y="0"/>
                  </a:cubicBezTo>
                  <a:lnTo>
                    <a:pt x="7909978" y="0"/>
                  </a:lnTo>
                  <a:cubicBezTo>
                    <a:pt x="8189351" y="0"/>
                    <a:pt x="8414870" y="310680"/>
                    <a:pt x="8414870" y="695552"/>
                  </a:cubicBezTo>
                  <a:lnTo>
                    <a:pt x="8414870" y="3941459"/>
                  </a:lnTo>
                  <a:cubicBezTo>
                    <a:pt x="8414870" y="4326330"/>
                    <a:pt x="8189351" y="4637010"/>
                    <a:pt x="7909978" y="4637010"/>
                  </a:cubicBezTo>
                  <a:lnTo>
                    <a:pt x="504892" y="4637010"/>
                  </a:lnTo>
                  <a:cubicBezTo>
                    <a:pt x="225519" y="4637010"/>
                    <a:pt x="0" y="4326330"/>
                    <a:pt x="0" y="3941459"/>
                  </a:cubicBezTo>
                  <a:close/>
                </a:path>
              </a:pathLst>
            </a:custGeom>
            <a:blipFill>
              <a:blip r:embed="rId7"/>
              <a:stretch>
                <a:fillRect l="0" t="-467" r="0" b="-467"/>
              </a:stretch>
            </a:blipFill>
            <a:ln w="66675" cap="sq">
              <a:solidFill>
                <a:srgbClr val="87C2DB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485775" y="6913351"/>
            <a:ext cx="3894759" cy="3115391"/>
            <a:chOff x="0" y="0"/>
            <a:chExt cx="5193012" cy="4153855"/>
          </a:xfrm>
        </p:grpSpPr>
        <p:sp>
          <p:nvSpPr>
            <p:cNvPr name="Freeform 13" id="13"/>
            <p:cNvSpPr/>
            <p:nvPr/>
          </p:nvSpPr>
          <p:spPr>
            <a:xfrm flipH="false" flipV="true" rot="0">
              <a:off x="1746936" y="0"/>
              <a:ext cx="3446076" cy="1985801"/>
            </a:xfrm>
            <a:custGeom>
              <a:avLst/>
              <a:gdLst/>
              <a:ahLst/>
              <a:cxnLst/>
              <a:rect r="r" b="b" t="t" l="l"/>
              <a:pathLst>
                <a:path h="1985801" w="3446076">
                  <a:moveTo>
                    <a:pt x="0" y="1985801"/>
                  </a:moveTo>
                  <a:lnTo>
                    <a:pt x="3446076" y="1985801"/>
                  </a:lnTo>
                  <a:lnTo>
                    <a:pt x="3446076" y="0"/>
                  </a:lnTo>
                  <a:lnTo>
                    <a:pt x="0" y="0"/>
                  </a:lnTo>
                  <a:lnTo>
                    <a:pt x="0" y="1985801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14" id="14"/>
            <p:cNvGrpSpPr/>
            <p:nvPr/>
          </p:nvGrpSpPr>
          <p:grpSpPr>
            <a:xfrm rot="0">
              <a:off x="0" y="1985801"/>
              <a:ext cx="3934407" cy="2168053"/>
              <a:chOff x="0" y="0"/>
              <a:chExt cx="8414870" cy="4637010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8414870" cy="4637010"/>
              </a:xfrm>
              <a:custGeom>
                <a:avLst/>
                <a:gdLst/>
                <a:ahLst/>
                <a:cxnLst/>
                <a:rect r="r" b="b" t="t" l="l"/>
                <a:pathLst>
                  <a:path h="4637010" w="8414870">
                    <a:moveTo>
                      <a:pt x="0" y="3941459"/>
                    </a:moveTo>
                    <a:lnTo>
                      <a:pt x="0" y="695552"/>
                    </a:lnTo>
                    <a:cubicBezTo>
                      <a:pt x="0" y="310680"/>
                      <a:pt x="225519" y="0"/>
                      <a:pt x="504892" y="0"/>
                    </a:cubicBezTo>
                    <a:lnTo>
                      <a:pt x="7909978" y="0"/>
                    </a:lnTo>
                    <a:cubicBezTo>
                      <a:pt x="8189351" y="0"/>
                      <a:pt x="8414870" y="310680"/>
                      <a:pt x="8414870" y="695552"/>
                    </a:cubicBezTo>
                    <a:lnTo>
                      <a:pt x="8414870" y="3941459"/>
                    </a:lnTo>
                    <a:cubicBezTo>
                      <a:pt x="8414870" y="4326330"/>
                      <a:pt x="8189351" y="4637010"/>
                      <a:pt x="7909978" y="4637010"/>
                    </a:cubicBezTo>
                    <a:lnTo>
                      <a:pt x="504892" y="4637010"/>
                    </a:lnTo>
                    <a:cubicBezTo>
                      <a:pt x="225519" y="4637010"/>
                      <a:pt x="0" y="4326330"/>
                      <a:pt x="0" y="3941459"/>
                    </a:cubicBezTo>
                    <a:close/>
                  </a:path>
                </a:pathLst>
              </a:custGeom>
              <a:blipFill>
                <a:blip r:embed="rId8"/>
                <a:stretch>
                  <a:fillRect l="0" t="-584" r="0" b="-584"/>
                </a:stretch>
              </a:blipFill>
              <a:ln w="66675" cap="sq">
                <a:solidFill>
                  <a:srgbClr val="87C2DB"/>
                </a:solidFill>
                <a:prstDash val="solid"/>
                <a:miter/>
              </a:ln>
            </p:spPr>
          </p:sp>
        </p:grpSp>
      </p:grpSp>
      <p:sp>
        <p:nvSpPr>
          <p:cNvPr name="Freeform 16" id="16"/>
          <p:cNvSpPr/>
          <p:nvPr/>
        </p:nvSpPr>
        <p:spPr>
          <a:xfrm flipH="false" flipV="true" rot="0">
            <a:off x="1795977" y="6905258"/>
            <a:ext cx="2584557" cy="1489351"/>
          </a:xfrm>
          <a:custGeom>
            <a:avLst/>
            <a:gdLst/>
            <a:ahLst/>
            <a:cxnLst/>
            <a:rect r="r" b="b" t="t" l="l"/>
            <a:pathLst>
              <a:path h="1489351" w="2584557">
                <a:moveTo>
                  <a:pt x="0" y="1489352"/>
                </a:moveTo>
                <a:lnTo>
                  <a:pt x="2584557" y="1489352"/>
                </a:lnTo>
                <a:lnTo>
                  <a:pt x="2584557" y="0"/>
                </a:lnTo>
                <a:lnTo>
                  <a:pt x="0" y="0"/>
                </a:lnTo>
                <a:lnTo>
                  <a:pt x="0" y="1489352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7" id="17"/>
          <p:cNvGrpSpPr/>
          <p:nvPr/>
        </p:nvGrpSpPr>
        <p:grpSpPr>
          <a:xfrm rot="0">
            <a:off x="3593400" y="6878621"/>
            <a:ext cx="2950806" cy="1626040"/>
            <a:chOff x="0" y="0"/>
            <a:chExt cx="8414870" cy="463701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414870" cy="4637010"/>
            </a:xfrm>
            <a:custGeom>
              <a:avLst/>
              <a:gdLst/>
              <a:ahLst/>
              <a:cxnLst/>
              <a:rect r="r" b="b" t="t" l="l"/>
              <a:pathLst>
                <a:path h="4637010" w="8414870">
                  <a:moveTo>
                    <a:pt x="0" y="3941459"/>
                  </a:moveTo>
                  <a:lnTo>
                    <a:pt x="0" y="695552"/>
                  </a:lnTo>
                  <a:cubicBezTo>
                    <a:pt x="0" y="310680"/>
                    <a:pt x="225519" y="0"/>
                    <a:pt x="504892" y="0"/>
                  </a:cubicBezTo>
                  <a:lnTo>
                    <a:pt x="7909978" y="0"/>
                  </a:lnTo>
                  <a:cubicBezTo>
                    <a:pt x="8189351" y="0"/>
                    <a:pt x="8414870" y="310680"/>
                    <a:pt x="8414870" y="695552"/>
                  </a:cubicBezTo>
                  <a:lnTo>
                    <a:pt x="8414870" y="3941459"/>
                  </a:lnTo>
                  <a:cubicBezTo>
                    <a:pt x="8414870" y="4326330"/>
                    <a:pt x="8189351" y="4637010"/>
                    <a:pt x="7909978" y="4637010"/>
                  </a:cubicBezTo>
                  <a:lnTo>
                    <a:pt x="504892" y="4637010"/>
                  </a:lnTo>
                  <a:cubicBezTo>
                    <a:pt x="225519" y="4637010"/>
                    <a:pt x="0" y="4326330"/>
                    <a:pt x="0" y="3941459"/>
                  </a:cubicBezTo>
                  <a:close/>
                </a:path>
              </a:pathLst>
            </a:custGeom>
            <a:blipFill>
              <a:blip r:embed="rId9"/>
              <a:stretch>
                <a:fillRect l="0" t="-216" r="0" b="-216"/>
              </a:stretch>
            </a:blipFill>
            <a:ln w="66675" cap="sq">
              <a:solidFill>
                <a:srgbClr val="87C2DB"/>
              </a:solidFill>
              <a:prstDash val="solid"/>
              <a:miter/>
            </a:ln>
          </p:spPr>
        </p:sp>
      </p:grpSp>
      <p:pic>
        <p:nvPicPr>
          <p:cNvPr name="Picture 19" id="19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5766256" y="2760996"/>
            <a:ext cx="13221589" cy="565987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8250787" y="-73421"/>
            <a:ext cx="8620077" cy="6863736"/>
          </a:xfrm>
          <a:custGeom>
            <a:avLst/>
            <a:gdLst/>
            <a:ahLst/>
            <a:cxnLst/>
            <a:rect r="r" b="b" t="t" l="l"/>
            <a:pathLst>
              <a:path h="6863736" w="8620077">
                <a:moveTo>
                  <a:pt x="0" y="0"/>
                </a:moveTo>
                <a:lnTo>
                  <a:pt x="8620077" y="0"/>
                </a:lnTo>
                <a:lnTo>
                  <a:pt x="8620077" y="6863737"/>
                </a:lnTo>
                <a:lnTo>
                  <a:pt x="0" y="686373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657917" y="4512143"/>
            <a:ext cx="9800650" cy="2450162"/>
          </a:xfrm>
          <a:custGeom>
            <a:avLst/>
            <a:gdLst/>
            <a:ahLst/>
            <a:cxnLst/>
            <a:rect r="r" b="b" t="t" l="l"/>
            <a:pathLst>
              <a:path h="2450162" w="9800650">
                <a:moveTo>
                  <a:pt x="0" y="0"/>
                </a:moveTo>
                <a:lnTo>
                  <a:pt x="9800649" y="0"/>
                </a:lnTo>
                <a:lnTo>
                  <a:pt x="9800649" y="2450163"/>
                </a:lnTo>
                <a:lnTo>
                  <a:pt x="0" y="245016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746235" y="-1841074"/>
            <a:ext cx="19780469" cy="13079835"/>
          </a:xfrm>
          <a:custGeom>
            <a:avLst/>
            <a:gdLst/>
            <a:ahLst/>
            <a:cxnLst/>
            <a:rect r="r" b="b" t="t" l="l"/>
            <a:pathLst>
              <a:path h="13079835" w="19780469">
                <a:moveTo>
                  <a:pt x="0" y="0"/>
                </a:moveTo>
                <a:lnTo>
                  <a:pt x="19780470" y="0"/>
                </a:lnTo>
                <a:lnTo>
                  <a:pt x="19780470" y="13079835"/>
                </a:lnTo>
                <a:lnTo>
                  <a:pt x="0" y="1307983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6430990" y="7560655"/>
            <a:ext cx="5426020" cy="2509534"/>
          </a:xfrm>
          <a:custGeom>
            <a:avLst/>
            <a:gdLst/>
            <a:ahLst/>
            <a:cxnLst/>
            <a:rect r="r" b="b" t="t" l="l"/>
            <a:pathLst>
              <a:path h="2509534" w="5426020">
                <a:moveTo>
                  <a:pt x="0" y="0"/>
                </a:moveTo>
                <a:lnTo>
                  <a:pt x="5426020" y="0"/>
                </a:lnTo>
                <a:lnTo>
                  <a:pt x="5426020" y="2509534"/>
                </a:lnTo>
                <a:lnTo>
                  <a:pt x="0" y="250953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7117244" y="8563029"/>
            <a:ext cx="4320213" cy="882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14"/>
              </a:lnSpc>
              <a:spcBef>
                <a:spcPct val="0"/>
              </a:spcBef>
            </a:pPr>
            <a:r>
              <a:rPr lang="en-US" b="true" sz="5153">
                <a:solidFill>
                  <a:srgbClr val="FFFFFF"/>
                </a:solidFill>
                <a:latin typeface="29LT Riwaya Bold"/>
                <a:ea typeface="29LT Riwaya Bold"/>
                <a:cs typeface="29LT Riwaya Bold"/>
                <a:sym typeface="29LT Riwaya Bold"/>
              </a:rPr>
              <a:t>Any Questions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DAHOvWFEuvg</dc:identifier>
  <dcterms:modified xsi:type="dcterms:W3CDTF">2011-08-01T06:04:30Z</dcterms:modified>
  <cp:revision>1</cp:revision>
  <dc:title>MTA Daily Ridership Analytics Dashboard</dc:title>
</cp:coreProperties>
</file>