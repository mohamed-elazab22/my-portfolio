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3474720"/>
            <a:ext cx="2011680" cy="1673352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3840480"/>
            <a:ext cx="1371600" cy="1303020"/>
          </a:xfrm>
          <a:prstGeom prst="rect">
            <a:avLst/>
          </a:prstGeom>
          <a:solidFill>
            <a:srgbClr val="0891B2">
              <a:alpha val="30000"/>
            </a:srgbClr>
          </a:solidFill>
          <a:ln/>
        </p:spPr>
      </p:sp>
      <p:pic>
        <p:nvPicPr>
          <p:cNvPr id="5" name="Image 0" descr="/home/claude/car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822960"/>
            <a:ext cx="2834640" cy="1828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502920"/>
            <a:ext cx="2560320" cy="347472"/>
          </a:xfrm>
          <a:prstGeom prst="rect">
            <a:avLst/>
          </a:prstGeom>
          <a:solidFill>
            <a:srgbClr val="0891B2">
              <a:alpha val="8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502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POWER BI ANALYTICS REPORT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9601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Automotive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457200" y="16916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Analysis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457200" y="2578608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</a:rPr>
              <a:t>A comprehensive deep-dive into car performance, fuel efficiency,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</a:rPr>
              <a:t>manufacturer competitiveness, and market evolution across origins.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3474720"/>
            <a:ext cx="41148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3611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3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457200" y="40416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Dashboard Pages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965960" y="3611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12+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1965960" y="40416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Key KPIs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474720" y="3611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8+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3474720" y="40416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Visual Types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Prepared by: Data Analytics Team  |  Source: Classic Cars Dataset (Power BI)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286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OVERVIEW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046720" y="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Slide 02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1188720"/>
            <a:ext cx="27889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188720"/>
            <a:ext cx="2788920" cy="164592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1480" y="20574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About This Project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11480" y="2578608"/>
            <a:ext cx="2514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An interactive Power BI dashboard analyzing a classic automotive dataset. It explores car performance, fuel economy, and manufacturer market presence across three time periods and three geographic origins (USA, Europe, Japan).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218688" y="1188720"/>
            <a:ext cx="27889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18688" y="1188720"/>
            <a:ext cx="2788920" cy="164592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288" y="146304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55848" y="20574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Business Problem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355848" y="2578608"/>
            <a:ext cx="2514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Stakeholders need a unified view of how car attributes (horsepower, weight, cylinders, MPG) vary by manufacturer and geography — and how market share has evolved over time. This dashboard answers those strategic questions at a glance.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163056" y="1188720"/>
            <a:ext cx="27889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163056" y="1188720"/>
            <a:ext cx="2788920" cy="164592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6" y="146304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00216" y="20574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Data Source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300216" y="2578608"/>
            <a:ext cx="2514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Classic automotive dataset (commonly derived from the UCI Auto MPG dataset). Contains model-level records with fields for manufacturer, origin, performance specs, and model year grouped into periods.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274320" y="4754880"/>
            <a:ext cx="8595360" cy="22860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2" name="Text 16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Assumption: Dataset represents model-years grouped into Early (pre-1975), Mid (1975–1980), and Late (1980+) periods based on Power BI slicer labels.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286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DATASET DESCRIPTION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046720" y="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Slide 03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114300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143000"/>
            <a:ext cx="3931920" cy="3840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1430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📐  DIMENSIONS  (Categorical)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1480" y="1691640"/>
            <a:ext cx="54864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Car / Model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011680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Individual car model name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11480" y="2240280"/>
            <a:ext cx="54864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0"/>
          <p:cNvSpPr/>
          <p:nvPr/>
        </p:nvSpPr>
        <p:spPr>
          <a:xfrm>
            <a:off x="566928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Manufacturer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01168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Brand (Ford, Toyota, BMW…)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11480" y="2788920"/>
            <a:ext cx="54864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3"/>
          <p:cNvSpPr/>
          <p:nvPr/>
        </p:nvSpPr>
        <p:spPr>
          <a:xfrm>
            <a:off x="566928" y="2788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Origin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01168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USA, Europe, or Japan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11480" y="3337560"/>
            <a:ext cx="54864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6"/>
          <p:cNvSpPr/>
          <p:nvPr/>
        </p:nvSpPr>
        <p:spPr>
          <a:xfrm>
            <a:off x="566928" y="3337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Period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011680" y="3337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Time group (Early / Mid / Late)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11480" y="3886200"/>
            <a:ext cx="54864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19"/>
          <p:cNvSpPr/>
          <p:nvPr/>
        </p:nvSpPr>
        <p:spPr>
          <a:xfrm>
            <a:off x="566928" y="3886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Cylinders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011680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Engine cylinder count (4, 6, 8…)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0" y="1143000"/>
            <a:ext cx="42976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572000" y="1143000"/>
            <a:ext cx="429768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3"/>
          <p:cNvSpPr/>
          <p:nvPr/>
        </p:nvSpPr>
        <p:spPr>
          <a:xfrm>
            <a:off x="4709160" y="11430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MEASURES  (Calculated KPIs)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709160" y="1691640"/>
            <a:ext cx="54864" cy="237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5"/>
          <p:cNvSpPr/>
          <p:nvPr/>
        </p:nvSpPr>
        <p:spPr>
          <a:xfrm>
            <a:off x="4864608" y="16916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Avg MPG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583680" y="169164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Average fuel economy (miles/gallon)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709160" y="2093976"/>
            <a:ext cx="54864" cy="237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8"/>
          <p:cNvSpPr/>
          <p:nvPr/>
        </p:nvSpPr>
        <p:spPr>
          <a:xfrm>
            <a:off x="4864608" y="209397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Avg Horsepower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583680" y="20939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Mean engine horsepower across models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709160" y="2496312"/>
            <a:ext cx="54864" cy="237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1"/>
          <p:cNvSpPr/>
          <p:nvPr/>
        </p:nvSpPr>
        <p:spPr>
          <a:xfrm>
            <a:off x="4864608" y="24963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Avg P/W Ratio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583680" y="249631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Power-to-weight ratio (performance proxy)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709160" y="2898648"/>
            <a:ext cx="54864" cy="237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4"/>
          <p:cNvSpPr/>
          <p:nvPr/>
        </p:nvSpPr>
        <p:spPr>
          <a:xfrm>
            <a:off x="4864608" y="28986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Total Unique Models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6583680" y="28986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Count of distinct car models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4709160" y="3300984"/>
            <a:ext cx="54864" cy="237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7"/>
          <p:cNvSpPr/>
          <p:nvPr/>
        </p:nvSpPr>
        <p:spPr>
          <a:xfrm>
            <a:off x="4864608" y="330098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Max HP / Max Weight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6583680" y="330098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Peak performance &amp; heaviest model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4709160" y="3703320"/>
            <a:ext cx="54864" cy="237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3" name="Text 40"/>
          <p:cNvSpPr/>
          <p:nvPr/>
        </p:nvSpPr>
        <p:spPr>
          <a:xfrm>
            <a:off x="4864608" y="37033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Best Acceleration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6583680" y="37033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Fastest 0–60 mph time recorded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4709160" y="4105656"/>
            <a:ext cx="54864" cy="237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6" name="Text 43"/>
          <p:cNvSpPr/>
          <p:nvPr/>
        </p:nvSpPr>
        <p:spPr>
          <a:xfrm>
            <a:off x="4864608" y="4105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Total Brands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6583680" y="410565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Count of distinct manufacturers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4709160" y="4507992"/>
            <a:ext cx="54864" cy="237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9" name="Text 46"/>
          <p:cNvSpPr/>
          <p:nvPr/>
        </p:nvSpPr>
        <p:spPr>
          <a:xfrm>
            <a:off x="4864608" y="45079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Top Avg MPG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6583680" y="45079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Highest efficiency brand/model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286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DASHBOARD PAGE 1 — OVERVIEW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046720" y="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Slide 04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114300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143000"/>
            <a:ext cx="109728" cy="10058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8448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87552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~300+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987552" y="1627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Unique Models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218688" y="114300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18688" y="1143000"/>
            <a:ext cx="109728" cy="100584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1298448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3192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~23 MPG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3931920" y="1627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Avg MPG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163056" y="114300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163056" y="1143000"/>
            <a:ext cx="109728" cy="10058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1298448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76288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~105 HP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6876288" y="1627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Avg Horsepower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274320" y="2331720"/>
            <a:ext cx="274320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274320" y="2331720"/>
            <a:ext cx="2743200" cy="14630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2560320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22960" y="25237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Area Chart — Avg MPG by Car Model</a:t>
            </a:r>
            <a:endParaRPr lang="en-US" sz="950" dirty="0"/>
          </a:p>
        </p:txBody>
      </p:sp>
      <p:sp>
        <p:nvSpPr>
          <p:cNvPr id="25" name="Text 18"/>
          <p:cNvSpPr/>
          <p:nvPr/>
        </p:nvSpPr>
        <p:spPr>
          <a:xfrm>
            <a:off x="411480" y="306324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Plots average fuel efficiency across individual models. Reveals which specific cars achieve the highest MPG, surfacing efficiency outliers and leaders.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3218688" y="2331720"/>
            <a:ext cx="274320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3218688" y="2331720"/>
            <a:ext cx="2743200" cy="14630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8416" y="2560320"/>
            <a:ext cx="347472" cy="34747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767328" y="25237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Donut Chart — Unique Models by Origin</a:t>
            </a:r>
            <a:endParaRPr lang="en-US" sz="950" dirty="0"/>
          </a:p>
        </p:txBody>
      </p:sp>
      <p:sp>
        <p:nvSpPr>
          <p:cNvPr id="30" name="Text 22"/>
          <p:cNvSpPr/>
          <p:nvPr/>
        </p:nvSpPr>
        <p:spPr>
          <a:xfrm>
            <a:off x="3355848" y="306324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Shows the share of distinct car models contributed by USA, Europe, and Japan. Highlights geographic diversity and which region dominates the model count.</a:t>
            </a: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6163056" y="2331720"/>
            <a:ext cx="274320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163056" y="2331720"/>
            <a:ext cx="2743200" cy="14630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2784" y="2560320"/>
            <a:ext cx="347472" cy="34747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711696" y="25237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Treemap — Models by Manufacturer</a:t>
            </a:r>
            <a:endParaRPr lang="en-US" sz="950" dirty="0"/>
          </a:p>
        </p:txBody>
      </p:sp>
      <p:sp>
        <p:nvSpPr>
          <p:cNvPr id="35" name="Text 26"/>
          <p:cNvSpPr/>
          <p:nvPr/>
        </p:nvSpPr>
        <p:spPr>
          <a:xfrm>
            <a:off x="6300216" y="306324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Visualizes each brand's model volume proportionally. Larger rectangles = more models, instantly revealing the most prolific manufacturers.</a:t>
            </a:r>
            <a:endParaRPr lang="en-US" sz="950" dirty="0"/>
          </a:p>
        </p:txBody>
      </p:sp>
      <p:sp>
        <p:nvSpPr>
          <p:cNvPr id="36" name="Shape 27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37" name="Text 28"/>
          <p:cNvSpPr/>
          <p:nvPr/>
        </p:nvSpPr>
        <p:spPr>
          <a:xfrm>
            <a:off x="41148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3B6E"/>
                </a:solidFill>
              </a:rPr>
              <a:t>🔽  Slicers Available: Origin  |  Period  |  Manufacturer  — enabling fully interactive cross-filtered analysis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286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DASHBOARD PAGE 2 — PERFORMANCE ANALYSIS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046720" y="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Slide 05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56032" y="1143000"/>
            <a:ext cx="20574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56032" y="1143000"/>
            <a:ext cx="91440" cy="8686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0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0392" y="1170432"/>
            <a:ext cx="13533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230 HP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850392" y="15361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MAX Horsepower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2423160" y="1143000"/>
            <a:ext cx="20574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423160" y="1143000"/>
            <a:ext cx="91440" cy="8686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608" y="128016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017520" y="1170432"/>
            <a:ext cx="13533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8.0 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3017520" y="15361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Best Acceleration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4590288" y="1143000"/>
            <a:ext cx="20574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590288" y="1143000"/>
            <a:ext cx="91440" cy="86868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1280160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84648" y="1170432"/>
            <a:ext cx="13533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5140 lbs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5184648" y="15361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Max Weight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6757416" y="1143000"/>
            <a:ext cx="20574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757416" y="1143000"/>
            <a:ext cx="91440" cy="86868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864" y="1280160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51776" y="1170432"/>
            <a:ext cx="13533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~0.38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7351776" y="15361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Avg P/W Ratio</a:t>
            </a:r>
            <a:endParaRPr lang="en-US" sz="850" dirty="0"/>
          </a:p>
        </p:txBody>
      </p:sp>
      <p:sp>
        <p:nvSpPr>
          <p:cNvPr id="26" name="Shape 19"/>
          <p:cNvSpPr/>
          <p:nvPr/>
        </p:nvSpPr>
        <p:spPr>
          <a:xfrm>
            <a:off x="256032" y="2148840"/>
            <a:ext cx="20574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256032" y="2148840"/>
            <a:ext cx="2057400" cy="13716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2340864"/>
            <a:ext cx="320040" cy="32004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31520" y="23134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Engine Performance Ranking (Top 10)</a:t>
            </a:r>
            <a:endParaRPr lang="en-US" sz="850" dirty="0"/>
          </a:p>
        </p:txBody>
      </p:sp>
      <p:sp>
        <p:nvSpPr>
          <p:cNvPr id="30" name="Text 22"/>
          <p:cNvSpPr/>
          <p:nvPr/>
        </p:nvSpPr>
        <p:spPr>
          <a:xfrm>
            <a:off x="347472" y="2798064"/>
            <a:ext cx="1874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Horizontal bar chart ranking manufacturers by average Power-to-Weight ratio. Reveals the top-performing brands in terms of engine output relative to vehicle mass — a key proxy for sportiness.</a:t>
            </a:r>
            <a:endParaRPr lang="en-US" sz="850" dirty="0"/>
          </a:p>
        </p:txBody>
      </p:sp>
      <p:sp>
        <p:nvSpPr>
          <p:cNvPr id="31" name="Shape 23"/>
          <p:cNvSpPr/>
          <p:nvPr/>
        </p:nvSpPr>
        <p:spPr>
          <a:xfrm>
            <a:off x="2423160" y="2148840"/>
            <a:ext cx="20574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2423160" y="2148840"/>
            <a:ext cx="2057400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600" y="2340864"/>
            <a:ext cx="320040" cy="32004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2898648" y="23134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Cylinders Performance &amp; Efficiency</a:t>
            </a:r>
            <a:endParaRPr lang="en-US" sz="850" dirty="0"/>
          </a:p>
        </p:txBody>
      </p:sp>
      <p:sp>
        <p:nvSpPr>
          <p:cNvPr id="35" name="Text 26"/>
          <p:cNvSpPr/>
          <p:nvPr/>
        </p:nvSpPr>
        <p:spPr>
          <a:xfrm>
            <a:off x="2514600" y="2798064"/>
            <a:ext cx="1874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Combo chart (bars + line) showing how cylinder count relates to horsepower and MPG. Confirms that 8-cylinder engines peak in power while 4-cylinder engines excel in fuel economy.</a:t>
            </a:r>
            <a:endParaRPr lang="en-US" sz="850" dirty="0"/>
          </a:p>
        </p:txBody>
      </p:sp>
      <p:sp>
        <p:nvSpPr>
          <p:cNvPr id="36" name="Shape 27"/>
          <p:cNvSpPr/>
          <p:nvPr/>
        </p:nvSpPr>
        <p:spPr>
          <a:xfrm>
            <a:off x="4590288" y="2148840"/>
            <a:ext cx="20574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4590288" y="2148840"/>
            <a:ext cx="2057400" cy="13716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1728" y="2340864"/>
            <a:ext cx="320040" cy="32004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5065776" y="23134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Weight vs. Fuel Efficiency (Scatter)</a:t>
            </a:r>
            <a:endParaRPr lang="en-US" sz="850" dirty="0"/>
          </a:p>
        </p:txBody>
      </p:sp>
      <p:sp>
        <p:nvSpPr>
          <p:cNvPr id="40" name="Text 30"/>
          <p:cNvSpPr/>
          <p:nvPr/>
        </p:nvSpPr>
        <p:spPr>
          <a:xfrm>
            <a:off x="4681728" y="2798064"/>
            <a:ext cx="1874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Scatter plot by Origin (USA/Europe/Japan) showing that heavier vehicles consistently achieve lower MPG. USA cars cluster in the high-weight, low-efficiency quadrant.</a:t>
            </a:r>
            <a:endParaRPr lang="en-US" sz="850" dirty="0"/>
          </a:p>
        </p:txBody>
      </p:sp>
      <p:sp>
        <p:nvSpPr>
          <p:cNvPr id="41" name="Shape 31"/>
          <p:cNvSpPr/>
          <p:nvPr/>
        </p:nvSpPr>
        <p:spPr>
          <a:xfrm>
            <a:off x="6757416" y="2148840"/>
            <a:ext cx="20574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32"/>
          <p:cNvSpPr/>
          <p:nvPr/>
        </p:nvSpPr>
        <p:spPr>
          <a:xfrm>
            <a:off x="6757416" y="2148840"/>
            <a:ext cx="2057400" cy="13716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48856" y="2340864"/>
            <a:ext cx="320040" cy="320040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7232904" y="23134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Cylinder Slicer (Extra Filter)</a:t>
            </a:r>
            <a:endParaRPr lang="en-US" sz="850" dirty="0"/>
          </a:p>
        </p:txBody>
      </p:sp>
      <p:sp>
        <p:nvSpPr>
          <p:cNvPr id="45" name="Text 34"/>
          <p:cNvSpPr/>
          <p:nvPr/>
        </p:nvSpPr>
        <p:spPr>
          <a:xfrm>
            <a:off x="6848856" y="2798064"/>
            <a:ext cx="1874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Additional filter allowing drill-down by engine cylinder count, enabling targeted performance comparison between 4, 6, and 8-cylinder segments of the market.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286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DASHBOARD PAGE 3 — MANUFACTURERS &amp; TRENDS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046720" y="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Slide 06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1143000"/>
            <a:ext cx="27432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143000"/>
            <a:ext cx="109728" cy="91440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61872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11704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30+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960120" y="1572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Total Brands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218688" y="1143000"/>
            <a:ext cx="27432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18688" y="1143000"/>
            <a:ext cx="109728" cy="9144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126187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04488" y="11704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~40 MPG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3904488" y="1572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Top Avg MPG Brand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163056" y="1143000"/>
            <a:ext cx="27432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163056" y="1143000"/>
            <a:ext cx="109728" cy="9144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1261872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48856" y="11704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USA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6848856" y="1572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Most Productive Origin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256032" y="2194560"/>
            <a:ext cx="2057400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256032" y="2194560"/>
            <a:ext cx="2057400" cy="13716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2395728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1520" y="236829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Manufacturer Efficiency Matrix (Pivot)</a:t>
            </a:r>
            <a:endParaRPr lang="en-US" sz="850" dirty="0"/>
          </a:p>
        </p:txBody>
      </p:sp>
      <p:sp>
        <p:nvSpPr>
          <p:cNvPr id="25" name="Text 18"/>
          <p:cNvSpPr/>
          <p:nvPr/>
        </p:nvSpPr>
        <p:spPr>
          <a:xfrm>
            <a:off x="347472" y="2834640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Cross-tab of manufacturers vs. time periods showing Avg MPG. Tracks whether individual brands improved fuel efficiency over time — a key strategic indicator.</a:t>
            </a:r>
            <a:endParaRPr lang="en-US" sz="850" dirty="0"/>
          </a:p>
        </p:txBody>
      </p:sp>
      <p:sp>
        <p:nvSpPr>
          <p:cNvPr id="26" name="Shape 19"/>
          <p:cNvSpPr/>
          <p:nvPr/>
        </p:nvSpPr>
        <p:spPr>
          <a:xfrm>
            <a:off x="2423160" y="2194560"/>
            <a:ext cx="2057400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2423160" y="2194560"/>
            <a:ext cx="2057400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2395728"/>
            <a:ext cx="320040" cy="32004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2898648" y="236829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Market Share Evolution (Ribbon Chart)</a:t>
            </a:r>
            <a:endParaRPr lang="en-US" sz="850" dirty="0"/>
          </a:p>
        </p:txBody>
      </p:sp>
      <p:sp>
        <p:nvSpPr>
          <p:cNvPr id="30" name="Text 22"/>
          <p:cNvSpPr/>
          <p:nvPr/>
        </p:nvSpPr>
        <p:spPr>
          <a:xfrm>
            <a:off x="2514600" y="2834640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Ribbon chart showing how each origin's model count share shifted across periods. USA dominates early eras, while Japan and Europe gain ground in later periods.</a:t>
            </a:r>
            <a:endParaRPr lang="en-US" sz="850" dirty="0"/>
          </a:p>
        </p:txBody>
      </p:sp>
      <p:sp>
        <p:nvSpPr>
          <p:cNvPr id="31" name="Shape 23"/>
          <p:cNvSpPr/>
          <p:nvPr/>
        </p:nvSpPr>
        <p:spPr>
          <a:xfrm>
            <a:off x="4590288" y="2194560"/>
            <a:ext cx="2057400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4590288" y="2194560"/>
            <a:ext cx="2057400" cy="13716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1728" y="2395728"/>
            <a:ext cx="320040" cy="32004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065776" y="236829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MPG Drivers Analysis (Decomposition Tree)</a:t>
            </a:r>
            <a:endParaRPr lang="en-US" sz="850" dirty="0"/>
          </a:p>
        </p:txBody>
      </p:sp>
      <p:sp>
        <p:nvSpPr>
          <p:cNvPr id="35" name="Text 26"/>
          <p:cNvSpPr/>
          <p:nvPr/>
        </p:nvSpPr>
        <p:spPr>
          <a:xfrm>
            <a:off x="4681728" y="2834640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AI-powered decomposition tree breaking down Avg MPG by Origin → Cylinders → Manufacturer. Instantly identifies which combination drives highest/lowest efficiency.</a:t>
            </a:r>
            <a:endParaRPr lang="en-US" sz="850" dirty="0"/>
          </a:p>
        </p:txBody>
      </p:sp>
      <p:sp>
        <p:nvSpPr>
          <p:cNvPr id="36" name="Shape 27"/>
          <p:cNvSpPr/>
          <p:nvPr/>
        </p:nvSpPr>
        <p:spPr>
          <a:xfrm>
            <a:off x="6757416" y="2194560"/>
            <a:ext cx="2057400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6757416" y="2194560"/>
            <a:ext cx="2057400" cy="13716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8856" y="2395728"/>
            <a:ext cx="320040" cy="32004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7232904" y="236829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Horsepower by Origin &amp; Brand (Treemap)</a:t>
            </a:r>
            <a:endParaRPr lang="en-US" sz="850" dirty="0"/>
          </a:p>
        </p:txBody>
      </p:sp>
      <p:sp>
        <p:nvSpPr>
          <p:cNvPr id="40" name="Text 30"/>
          <p:cNvSpPr/>
          <p:nvPr/>
        </p:nvSpPr>
        <p:spPr>
          <a:xfrm>
            <a:off x="6848856" y="2834640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Nested treemap showing Avg Horsepower by geographic origin and then by brand. Highlights which brands contribute most HP within each regional group.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286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INSIGHTS &amp; ANALYSIS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046720" y="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Slide 07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1143000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143000"/>
            <a:ext cx="109728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Shape 5"/>
          <p:cNvSpPr/>
          <p:nvPr/>
        </p:nvSpPr>
        <p:spPr>
          <a:xfrm>
            <a:off x="3657600" y="1234440"/>
            <a:ext cx="777240" cy="228600"/>
          </a:xfrm>
          <a:prstGeom prst="rect">
            <a:avLst/>
          </a:prstGeom>
          <a:solidFill>
            <a:srgbClr val="0891B2">
              <a:alpha val="2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657600" y="12344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91B2"/>
                </a:solidFill>
              </a:rPr>
              <a:t>Origin Dominance</a:t>
            </a:r>
            <a:endParaRPr lang="en-US" sz="7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96112" y="12161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USA Leads in Volume, Japan Leads in Efficiency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96112" y="160020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American manufacturers contribute the most unique models, but Japanese cars consistently outperform in fuel economy (higher Avg MPG), reflecting a strategic divergence in market focus.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709160" y="1143000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09160" y="1143000"/>
            <a:ext cx="109728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Shape 11"/>
          <p:cNvSpPr/>
          <p:nvPr/>
        </p:nvSpPr>
        <p:spPr>
          <a:xfrm>
            <a:off x="8092440" y="1234440"/>
            <a:ext cx="777240" cy="228600"/>
          </a:xfrm>
          <a:prstGeom prst="rect">
            <a:avLst/>
          </a:prstGeom>
          <a:solidFill>
            <a:srgbClr val="F59E0B">
              <a:alpha val="25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8092440" y="12344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Performance Trend</a:t>
            </a:r>
            <a:endParaRPr lang="en-US" sz="7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23444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30952" y="12161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8-Cylinder Engines Rule Horsepower, 4-Cylinders Win MPG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330952" y="160020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The cylinder combo chart confirms a clear inverse relationship — 8-cyl cars deliver maximum power but at severe fuel costs. 4-cylinder models achieve 2–3× better fuel economy.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274320" y="2468880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74320" y="2468880"/>
            <a:ext cx="109728" cy="1188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Shape 17"/>
          <p:cNvSpPr/>
          <p:nvPr/>
        </p:nvSpPr>
        <p:spPr>
          <a:xfrm>
            <a:off x="3657600" y="2560320"/>
            <a:ext cx="777240" cy="228600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3657600" y="2560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</a:rPr>
              <a:t>Market Shift</a:t>
            </a:r>
            <a:endParaRPr lang="en-US" sz="7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560320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96112" y="25420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Japan &amp; Europe Gained Market Share Over Time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896112" y="29260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The ribbon chart shows USA's dominant early market share eroding in later periods as Japanese and European manufacturers expanded model diversity, particularly after the oil crisis era.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4709160" y="2468880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709160" y="2468880"/>
            <a:ext cx="109728" cy="1188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9" name="Shape 23"/>
          <p:cNvSpPr/>
          <p:nvPr/>
        </p:nvSpPr>
        <p:spPr>
          <a:xfrm>
            <a:off x="8092440" y="2560320"/>
            <a:ext cx="777240" cy="228600"/>
          </a:xfrm>
          <a:prstGeom prst="rect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30" name="Text 24"/>
          <p:cNvSpPr/>
          <p:nvPr/>
        </p:nvSpPr>
        <p:spPr>
          <a:xfrm>
            <a:off x="8092440" y="2560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</a:rPr>
              <a:t>Weight-Efficiency Anomaly</a:t>
            </a:r>
            <a:endParaRPr lang="en-US" sz="7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560320"/>
            <a:ext cx="347472" cy="34747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330952" y="25420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Heavier Cars Always Have Lower MPG — No Exceptions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5330952" y="29260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The scatter chart reveals a consistent negative correlation between vehicle weight and MPG across all three origins — confirming weight is the single strongest predictor of fuel efficiency.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274320" y="3794760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274320" y="3794760"/>
            <a:ext cx="109728" cy="1188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6" name="Shape 29"/>
          <p:cNvSpPr/>
          <p:nvPr/>
        </p:nvSpPr>
        <p:spPr>
          <a:xfrm>
            <a:off x="3657600" y="3886200"/>
            <a:ext cx="777240" cy="228600"/>
          </a:xfrm>
          <a:prstGeom prst="rect">
            <a:avLst/>
          </a:prstGeom>
          <a:solidFill>
            <a:srgbClr val="F97316">
              <a:alpha val="25000"/>
            </a:srgbClr>
          </a:solidFill>
          <a:ln/>
        </p:spPr>
      </p:sp>
      <p:sp>
        <p:nvSpPr>
          <p:cNvPr id="37" name="Text 30"/>
          <p:cNvSpPr/>
          <p:nvPr/>
        </p:nvSpPr>
        <p:spPr>
          <a:xfrm>
            <a:off x="3657600" y="38862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</a:rPr>
              <a:t>Top Performers</a:t>
            </a:r>
            <a:endParaRPr lang="en-US" sz="70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886200"/>
            <a:ext cx="347472" cy="34747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96112" y="38679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European Sports Brands Lead in Power-to-Weight Ratio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896112" y="42519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The Top 10 P/W ranking shows European manufacturers (e.g., BMW, VW) often achieve the best balance of performance and weight, outranking heavier American V8 cars on this metric.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4709160" y="3794760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4709160" y="3794760"/>
            <a:ext cx="109728" cy="1188720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43" name="Shape 35"/>
          <p:cNvSpPr/>
          <p:nvPr/>
        </p:nvSpPr>
        <p:spPr>
          <a:xfrm>
            <a:off x="8092440" y="3886200"/>
            <a:ext cx="777240" cy="228600"/>
          </a:xfrm>
          <a:prstGeom prst="rect">
            <a:avLst/>
          </a:prstGeom>
          <a:solidFill>
            <a:srgbClr val="0D3B6E">
              <a:alpha val="25000"/>
            </a:srgbClr>
          </a:solidFill>
          <a:ln/>
        </p:spPr>
      </p:sp>
      <p:sp>
        <p:nvSpPr>
          <p:cNvPr id="44" name="Text 36"/>
          <p:cNvSpPr/>
          <p:nvPr/>
        </p:nvSpPr>
        <p:spPr>
          <a:xfrm>
            <a:off x="8092440" y="38862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3B6E"/>
                </a:solidFill>
              </a:rPr>
              <a:t>Efficiency Leaders</a:t>
            </a:r>
            <a:endParaRPr lang="en-US" sz="700" dirty="0"/>
          </a:p>
        </p:txBody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3886200"/>
            <a:ext cx="347472" cy="347472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5330952" y="38679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 Small Group of Japanese Brands Drive Best MPG</a:t>
            </a:r>
            <a:endParaRPr lang="en-US" sz="1000" dirty="0"/>
          </a:p>
        </p:txBody>
      </p:sp>
      <p:sp>
        <p:nvSpPr>
          <p:cNvPr id="47" name="Text 38"/>
          <p:cNvSpPr/>
          <p:nvPr/>
        </p:nvSpPr>
        <p:spPr>
          <a:xfrm>
            <a:off x="5330952" y="42519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The decomposition tree reveals that the highest Avg MPG is concentrated among a handful of Japanese manufacturers with 4-cylinder lineups, suggesting focused product specialization.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891B2">
              <a:alpha val="2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8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371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097280" y="8046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1"/>
                </a:solidFill>
              </a:rPr>
              <a:t>Business-critical takeaways from the automotive dashboard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1207008"/>
            <a:ext cx="54864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207008"/>
            <a:ext cx="6172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USA manufactures the most car models, but Japanese vehicles deliver the best fuel efficiency — a critical insight for import/export strategy.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1837944"/>
            <a:ext cx="54864" cy="3840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837944"/>
            <a:ext cx="6172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Fuel efficiency improved measurably across periods — later-era cars show higher MPG, aligning with post-oil-crisis regulatory and consumer pressure.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2468880"/>
            <a:ext cx="54864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468880"/>
            <a:ext cx="6172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4-cylinder engines are the clear efficiency champions: they dominate Japanese and European lineups and explain their superior MPG performance.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3099816"/>
            <a:ext cx="54864" cy="38404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3099816"/>
            <a:ext cx="6172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Vehicle weight is the #1 predictor of MPG — regardless of brand or origin, heavier cars always consume more fuel, confirming aerodynamics/mass physics.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3730752"/>
            <a:ext cx="54864" cy="38404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3730752"/>
            <a:ext cx="6172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Horsepower is heavily concentrated in V8 American cars — but this comes at a severe efficiency cost, creating a performance-vs-economy trade-off.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" y="4361688"/>
            <a:ext cx="54864" cy="384048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4361688"/>
            <a:ext cx="6172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The P/W ratio ranking reveals that European manufacturers achieve the best performance efficiency, punching above their weight despite smaller engines.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286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STRATEGIC RECOMMENDATIONS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046720" y="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Slide 09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1143000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143000"/>
            <a:ext cx="475488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149047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2344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8448" y="12161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Invest in Fuel Efficiency R&amp;D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298448" y="16002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With MPG being the dominant competitive factor — especially for Japanese brands — manufacturers should prioritize lightweight materials and 4-cylinder hybrid engines to match market-leading efficiency benchmarks.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709160" y="1143000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09160" y="1143000"/>
            <a:ext cx="475488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0"/>
          <p:cNvSpPr/>
          <p:nvPr/>
        </p:nvSpPr>
        <p:spPr>
          <a:xfrm>
            <a:off x="4754880" y="149047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123444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733288" y="12161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Benchmark Against Japanese Leaders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733288" y="16002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American and European brands should study the product strategies of top Japanese MPG performers. A focused efficiency lineup (lighter weight, smaller displacement) can unlock new customer segments.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274320" y="2468880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274320" y="2468880"/>
            <a:ext cx="475488" cy="1188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5"/>
          <p:cNvSpPr/>
          <p:nvPr/>
        </p:nvSpPr>
        <p:spPr>
          <a:xfrm>
            <a:off x="320040" y="281635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256032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98448" y="25420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Monitor Market Share Shifts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1298448" y="29260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The ribbon chart confirms Japanese/European share gains over time. Stakeholders should set up automated alerts on model-count trends by origin and period to catch market-share erosion early.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4709160" y="2468880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09160" y="2468880"/>
            <a:ext cx="475488" cy="1188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Text 20"/>
          <p:cNvSpPr/>
          <p:nvPr/>
        </p:nvSpPr>
        <p:spPr>
          <a:xfrm>
            <a:off x="4754880" y="281635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0952" y="2560320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733288" y="25420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Weight Reduction as a Core KPI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5733288" y="29260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Since weight is the #1 driver of inefficiency, engineering teams should track and report vehicle curb weight as a primary KPI alongside MPG and HP — not just as a spec sheet figure.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274320" y="3794760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274320" y="3794760"/>
            <a:ext cx="475488" cy="1188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25"/>
          <p:cNvSpPr/>
          <p:nvPr/>
        </p:nvSpPr>
        <p:spPr>
          <a:xfrm>
            <a:off x="320040" y="414223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</a:t>
            </a:r>
            <a:endParaRPr lang="en-US" sz="220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" y="3886200"/>
            <a:ext cx="347472" cy="3474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298448" y="38679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Segment High-Performance Products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1298448" y="42519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High-HP, high-weight vehicles serve a distinct niche (performance enthusiasts). Market these separately with performance-focused messaging rather than competing on efficiency where they are structurally disadvantaged.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4709160" y="3794760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709160" y="3794760"/>
            <a:ext cx="475488" cy="1188720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38" name="Text 30"/>
          <p:cNvSpPr/>
          <p:nvPr/>
        </p:nvSpPr>
        <p:spPr>
          <a:xfrm>
            <a:off x="4754880" y="414223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</a:t>
            </a:r>
            <a:endParaRPr lang="en-US" sz="2200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0952" y="3886200"/>
            <a:ext cx="347472" cy="347472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733288" y="38679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Enrich the Dataset with Sales Volume</a:t>
            </a:r>
            <a:endParaRPr lang="en-US" sz="1050" dirty="0"/>
          </a:p>
        </p:txBody>
      </p:sp>
      <p:sp>
        <p:nvSpPr>
          <p:cNvPr id="41" name="Text 32"/>
          <p:cNvSpPr/>
          <p:nvPr/>
        </p:nvSpPr>
        <p:spPr>
          <a:xfrm>
            <a:off x="5733288" y="42519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Current data covers model diversity and specs, but not sales volume. Adding revenue or units-sold data would transform this from a product analysis into a full commercial intelligence platform.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3200400"/>
            <a:ext cx="3200400" cy="1947672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3657600"/>
            <a:ext cx="2286000" cy="1485900"/>
          </a:xfrm>
          <a:prstGeom prst="rect">
            <a:avLst/>
          </a:prstGeom>
          <a:solidFill>
            <a:srgbClr val="0891B2">
              <a:alpha val="25000"/>
            </a:srgbClr>
          </a:solidFill>
          <a:ln/>
        </p:spPr>
      </p:sp>
      <p:pic>
        <p:nvPicPr>
          <p:cNvPr id="6" name="Image 0" descr="/home/claude/car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2560320"/>
            <a:ext cx="310896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411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0891B2"/>
                </a:solidFill>
              </a:rPr>
              <a:t>CONCLUSION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896112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Driving Decisions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Data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502920" y="2331720"/>
            <a:ext cx="5212080" cy="2377440"/>
          </a:xfrm>
          <a:prstGeom prst="rect">
            <a:avLst/>
          </a:prstGeom>
          <a:solidFill>
            <a:srgbClr val="0D3B6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6888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245059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</a:rPr>
              <a:t>3-page interactive dashboard covering Overview, Performance, and Trends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80944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296265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</a:rPr>
              <a:t>12+ KPIs spanning fuel efficiency, horsepower, weight, and market share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493008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347472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</a:rPr>
              <a:t>Actionable insights across manufacturer segments and geographic origins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005072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51560" y="398678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</a:rPr>
              <a:t>Ready for extension with sales volume and pricing data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50292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</a:rPr>
              <a:t>"Turn raw automotive data into strategic intelligence."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Automotive Market Analysis</dc:title>
  <dc:subject>PptxGenJS Presentation</dc:subject>
  <dc:creator>Power BI Analytics</dc:creator>
  <cp:lastModifiedBy>Power BI Analytics</cp:lastModifiedBy>
  <cp:revision>1</cp:revision>
  <dcterms:created xsi:type="dcterms:W3CDTF">2026-04-24T00:14:18Z</dcterms:created>
  <dcterms:modified xsi:type="dcterms:W3CDTF">2026-04-24T00:14:18Z</dcterms:modified>
</cp:coreProperties>
</file>